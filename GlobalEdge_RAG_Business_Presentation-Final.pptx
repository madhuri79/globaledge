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9" r:id="rId2"/>
  </p:sldMasterIdLst>
  <p:notesMasterIdLst>
    <p:notesMasterId r:id="rId22"/>
  </p:notesMasterIdLst>
  <p:sldIdLst>
    <p:sldId id="256" r:id="rId3"/>
    <p:sldId id="257" r:id="rId4"/>
    <p:sldId id="258" r:id="rId5"/>
    <p:sldId id="259" r:id="rId6"/>
    <p:sldId id="260" r:id="rId7"/>
    <p:sldId id="261" r:id="rId8"/>
    <p:sldId id="262" r:id="rId9"/>
    <p:sldId id="300" r:id="rId10"/>
    <p:sldId id="304" r:id="rId11"/>
    <p:sldId id="305" r:id="rId12"/>
    <p:sldId id="263" r:id="rId13"/>
    <p:sldId id="264" r:id="rId14"/>
    <p:sldId id="265" r:id="rId15"/>
    <p:sldId id="266" r:id="rId16"/>
    <p:sldId id="267" r:id="rId17"/>
    <p:sldId id="301" r:id="rId18"/>
    <p:sldId id="302" r:id="rId19"/>
    <p:sldId id="303" r:id="rId20"/>
    <p:sldId id="268" r:id="rId21"/>
  </p:sldIdLst>
  <p:sldSz cx="9144000" cy="5143500" type="screen16x9"/>
  <p:notesSz cx="6858000" cy="9144000"/>
  <p:embeddedFontLst>
    <p:embeddedFont>
      <p:font typeface="Consolas" panose="020B0609020204030204" pitchFamily="49" charset="0"/>
      <p:regular r:id="rId23"/>
      <p:bold r:id="rId24"/>
      <p:italic r:id="rId25"/>
      <p:boldItalic r:id="rId26"/>
    </p:embeddedFont>
    <p:embeddedFont>
      <p:font typeface="Nunito" pitchFamily="2" charset="0"/>
      <p:regular r:id="rId27"/>
      <p:bold r:id="rId28"/>
      <p:italic r:id="rId29"/>
      <p:boldItalic r:id="rId30"/>
    </p:embeddedFont>
    <p:embeddedFont>
      <p:font typeface="Nunito ExtraBold" pitchFamily="2" charset="0"/>
      <p:bold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3" roundtripDataSignature="AMtx7mir1CuVc7P9GSjuQoiIFJRDez2n+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4CE567-A2BC-3DC7-A052-8CDB6631A039}" v="193" dt="2026-10-25T19:04:59.286"/>
  </p1510:revLst>
</p1510:revInfo>
</file>

<file path=ppt/tableStyles.xml><?xml version="1.0" encoding="utf-8"?>
<a:tblStyleLst xmlns:a="http://schemas.openxmlformats.org/drawingml/2006/main" def="{C1FB5A6A-6A5D-45A8-83F2-B5AB23CB960B}">
  <a:tblStyle styleId="{C1FB5A6A-6A5D-45A8-83F2-B5AB23CB960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4.fntdata"/><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3.fntdata"/><Relationship Id="rId33" Type="http://customschemas.google.com/relationships/presentationmetadata" Target="metadata"/><Relationship Id="rId38"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9.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 name="Google Shape;128;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7" name="Google Shape;17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8" name="Google Shape;178;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17</a:t>
            </a:fld>
            <a:endParaRPr sz="1200" b="0" i="0" u="none" strike="noStrike" cap="none">
              <a:solidFill>
                <a:schemeClr val="dk1"/>
              </a:solidFill>
              <a:latin typeface="Calibri"/>
              <a:ea typeface="Calibri"/>
              <a:cs typeface="Calibri"/>
              <a:sym typeface="Calibri"/>
            </a:endParaRPr>
          </a:p>
        </p:txBody>
      </p:sp>
      <p:sp>
        <p:nvSpPr>
          <p:cNvPr id="179" name="Google Shape;179;p15: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17"/>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17"/>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1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1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2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2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22"/>
          <p:cNvGraphicFramePr/>
          <p:nvPr/>
        </p:nvGraphicFramePr>
        <p:xfrm>
          <a:off x="201942" y="833662"/>
          <a:ext cx="8655225" cy="3435475"/>
        </p:xfrm>
        <a:graphic>
          <a:graphicData uri="http://schemas.openxmlformats.org/drawingml/2006/table">
            <a:tbl>
              <a:tblPr firstRow="1" bandRow="1">
                <a:noFill/>
                <a:tableStyleId>{C1FB5A6A-6A5D-45A8-83F2-B5AB23CB960B}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23"/>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23"/>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25"/>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2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2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2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26"/>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26"/>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28"/>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28" descr="A close up of a logo&#10;&#10;Description automatically generated"/>
          <p:cNvPicPr preferRelativeResize="0"/>
          <p:nvPr/>
        </p:nvPicPr>
        <p:blipFill rotWithShape="1">
          <a:blip r:embed="rId2">
            <a:alphaModFix/>
          </a:blip>
          <a:srcRect l="42816" t="18358" r="37294" b="19149"/>
          <a:stretch/>
        </p:blipFill>
        <p:spPr>
          <a:xfrm>
            <a:off x="6052536" y="514443"/>
            <a:ext cx="2095112" cy="3703320"/>
          </a:xfrm>
          <a:prstGeom prst="rect">
            <a:avLst/>
          </a:prstGeom>
          <a:noFill/>
          <a:ln>
            <a:noFill/>
          </a:ln>
        </p:spPr>
      </p:pic>
      <p:sp>
        <p:nvSpPr>
          <p:cNvPr id="50" name="Google Shape;50;p28"/>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28"/>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28"/>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62"/>
        <p:cNvGrpSpPr/>
        <p:nvPr/>
      </p:nvGrpSpPr>
      <p:grpSpPr>
        <a:xfrm>
          <a:off x="0" y="0"/>
          <a:ext cx="0" cy="0"/>
          <a:chOff x="0" y="0"/>
          <a:chExt cx="0" cy="0"/>
        </a:xfrm>
      </p:grpSpPr>
      <p:sp>
        <p:nvSpPr>
          <p:cNvPr id="63" name="Google Shape;63;p20"/>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64" name="Google Shape;64;p20" descr="A close up of a logo&#10;&#10;Description automatically generated"/>
          <p:cNvPicPr preferRelativeResize="0"/>
          <p:nvPr/>
        </p:nvPicPr>
        <p:blipFill rotWithShape="1">
          <a:blip r:embed="rId2">
            <a:alphaModFix/>
          </a:blip>
          <a:srcRect l="42816" t="18358" r="37294" b="19149"/>
          <a:stretch/>
        </p:blipFill>
        <p:spPr>
          <a:xfrm>
            <a:off x="6052536" y="514443"/>
            <a:ext cx="2095112" cy="3703320"/>
          </a:xfrm>
          <a:prstGeom prst="rect">
            <a:avLst/>
          </a:prstGeom>
          <a:noFill/>
          <a:ln>
            <a:noFill/>
          </a:ln>
        </p:spPr>
      </p:pic>
      <p:sp>
        <p:nvSpPr>
          <p:cNvPr id="65" name="Google Shape;65;p20"/>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66" name="Google Shape;66;p20"/>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67" name="Google Shape;67;p20"/>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8"/>
        <p:cNvGrpSpPr/>
        <p:nvPr/>
      </p:nvGrpSpPr>
      <p:grpSpPr>
        <a:xfrm>
          <a:off x="0" y="0"/>
          <a:ext cx="0" cy="0"/>
          <a:chOff x="0" y="0"/>
          <a:chExt cx="0" cy="0"/>
        </a:xfrm>
      </p:grpSpPr>
      <p:sp>
        <p:nvSpPr>
          <p:cNvPr id="69" name="Google Shape;69;p29"/>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70" name="Google Shape;70;p29"/>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b="1">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1"/>
        <p:cNvGrpSpPr/>
        <p:nvPr/>
      </p:nvGrpSpPr>
      <p:grpSpPr>
        <a:xfrm>
          <a:off x="0" y="0"/>
          <a:ext cx="0" cy="0"/>
          <a:chOff x="0" y="0"/>
          <a:chExt cx="0" cy="0"/>
        </a:xfrm>
      </p:grpSpPr>
      <p:sp>
        <p:nvSpPr>
          <p:cNvPr id="72" name="Google Shape;72;p30"/>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3" name="Google Shape;73;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4"/>
        <p:cNvGrpSpPr/>
        <p:nvPr/>
      </p:nvGrpSpPr>
      <p:grpSpPr>
        <a:xfrm>
          <a:off x="0" y="0"/>
          <a:ext cx="0" cy="0"/>
          <a:chOff x="0" y="0"/>
          <a:chExt cx="0" cy="0"/>
        </a:xfrm>
      </p:grpSpPr>
      <p:sp>
        <p:nvSpPr>
          <p:cNvPr id="75" name="Google Shape;75;p3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6" name="Google Shape;76;p3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77" name="Google Shape;77;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8"/>
        <p:cNvGrpSpPr/>
        <p:nvPr/>
      </p:nvGrpSpPr>
      <p:grpSpPr>
        <a:xfrm>
          <a:off x="0" y="0"/>
          <a:ext cx="0" cy="0"/>
          <a:chOff x="0" y="0"/>
          <a:chExt cx="0" cy="0"/>
        </a:xfrm>
      </p:grpSpPr>
      <p:sp>
        <p:nvSpPr>
          <p:cNvPr id="79" name="Google Shape;79;p3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80" name="Google Shape;80;p32"/>
          <p:cNvGraphicFramePr/>
          <p:nvPr/>
        </p:nvGraphicFramePr>
        <p:xfrm>
          <a:off x="201942" y="833662"/>
          <a:ext cx="8655225" cy="3435475"/>
        </p:xfrm>
        <a:graphic>
          <a:graphicData uri="http://schemas.openxmlformats.org/drawingml/2006/table">
            <a:tbl>
              <a:tblPr firstRow="1" bandRow="1">
                <a:noFill/>
                <a:tableStyleId>{C1FB5A6A-6A5D-45A8-83F2-B5AB23CB960B}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81" name="Google Shape;81;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82"/>
        <p:cNvGrpSpPr/>
        <p:nvPr/>
      </p:nvGrpSpPr>
      <p:grpSpPr>
        <a:xfrm>
          <a:off x="0" y="0"/>
          <a:ext cx="0" cy="0"/>
          <a:chOff x="0" y="0"/>
          <a:chExt cx="0" cy="0"/>
        </a:xfrm>
      </p:grpSpPr>
      <p:sp>
        <p:nvSpPr>
          <p:cNvPr id="83" name="Google Shape;83;p3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4" name="Google Shape;84;p33"/>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5" name="Google Shape;85;p33"/>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6" name="Google Shape;86;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7"/>
        <p:cNvGrpSpPr/>
        <p:nvPr/>
      </p:nvGrpSpPr>
      <p:grpSpPr>
        <a:xfrm>
          <a:off x="0" y="0"/>
          <a:ext cx="0" cy="0"/>
          <a:chOff x="0" y="0"/>
          <a:chExt cx="0" cy="0"/>
        </a:xfrm>
      </p:grpSpPr>
      <p:sp>
        <p:nvSpPr>
          <p:cNvPr id="88" name="Google Shape;88;p3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9" name="Google Shape;89;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90"/>
        <p:cNvGrpSpPr/>
        <p:nvPr/>
      </p:nvGrpSpPr>
      <p:grpSpPr>
        <a:xfrm>
          <a:off x="0" y="0"/>
          <a:ext cx="0" cy="0"/>
          <a:chOff x="0" y="0"/>
          <a:chExt cx="0" cy="0"/>
        </a:xfrm>
      </p:grpSpPr>
      <p:sp>
        <p:nvSpPr>
          <p:cNvPr id="91" name="Google Shape;91;p35"/>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92" name="Google Shape;92;p3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3"/>
        <p:cNvGrpSpPr/>
        <p:nvPr/>
      </p:nvGrpSpPr>
      <p:grpSpPr>
        <a:xfrm>
          <a:off x="0" y="0"/>
          <a:ext cx="0" cy="0"/>
          <a:chOff x="0" y="0"/>
          <a:chExt cx="0" cy="0"/>
        </a:xfrm>
      </p:grpSpPr>
      <p:sp>
        <p:nvSpPr>
          <p:cNvPr id="94" name="Google Shape;94;p36"/>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3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6" name="Google Shape;96;p36"/>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7" name="Google Shape;97;p36"/>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8" name="Google Shape;98;p3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9"/>
        <p:cNvGrpSpPr/>
        <p:nvPr/>
      </p:nvGrpSpPr>
      <p:grpSpPr>
        <a:xfrm>
          <a:off x="0" y="0"/>
          <a:ext cx="0" cy="0"/>
          <a:chOff x="0" y="0"/>
          <a:chExt cx="0" cy="0"/>
        </a:xfrm>
      </p:grpSpPr>
      <p:sp>
        <p:nvSpPr>
          <p:cNvPr id="100" name="Google Shape;100;p3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6"/>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6"/>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 name="Google Shape;10;p16"/>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6"/>
          <p:cNvGrpSpPr/>
          <p:nvPr/>
        </p:nvGrpSpPr>
        <p:grpSpPr>
          <a:xfrm>
            <a:off x="6593" y="10"/>
            <a:ext cx="175500" cy="709221"/>
            <a:chOff x="6593" y="10"/>
            <a:chExt cx="175500" cy="709221"/>
          </a:xfrm>
        </p:grpSpPr>
        <p:sp>
          <p:nvSpPr>
            <p:cNvPr id="12" name="Google Shape;12;p16"/>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6"/>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1"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9"/>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9"/>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8" name="Google Shape;58;p19"/>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59" name="Google Shape;59;p19"/>
          <p:cNvGrpSpPr/>
          <p:nvPr/>
        </p:nvGrpSpPr>
        <p:grpSpPr>
          <a:xfrm>
            <a:off x="6593" y="10"/>
            <a:ext cx="175500" cy="709221"/>
            <a:chOff x="6593" y="10"/>
            <a:chExt cx="175500" cy="709221"/>
          </a:xfrm>
        </p:grpSpPr>
        <p:sp>
          <p:nvSpPr>
            <p:cNvPr id="60" name="Google Shape;60;p19"/>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9"/>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Lst>
  <mc:AlternateContent xmlns:mc="http://schemas.openxmlformats.org/markup-compatibility/2006" xmlns:p14="http://schemas.microsoft.com/office/powerpoint/2010/main">
    <mc:Choice Requires="p14">
      <p:transition p14:dur="0">
        <p:fade thruBlk="1"/>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
          <p:cNvSpPr txBox="1">
            <a:spLocks noGrp="1"/>
          </p:cNvSpPr>
          <p:nvPr>
            <p:ph type="ctrTitle"/>
          </p:nvPr>
        </p:nvSpPr>
        <p:spPr>
          <a:xfrm>
            <a:off x="624248" y="983426"/>
            <a:ext cx="7887982" cy="141639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600" err="1"/>
              <a:t>GlobalEdge</a:t>
            </a:r>
            <a:r>
              <a:rPr lang="en" sz="3600" dirty="0"/>
              <a:t> Financial Intelligence Assistant: A RAG </a:t>
            </a:r>
            <a:r>
              <a:rPr lang="en" sz="3600"/>
              <a:t>PoC</a:t>
            </a:r>
            <a:endParaRPr sz="3600"/>
          </a:p>
        </p:txBody>
      </p:sp>
      <p:sp>
        <p:nvSpPr>
          <p:cNvPr id="106" name="Google Shape;106;p1"/>
          <p:cNvSpPr txBox="1">
            <a:spLocks noGrp="1"/>
          </p:cNvSpPr>
          <p:nvPr>
            <p:ph type="ctrTitle"/>
          </p:nvPr>
        </p:nvSpPr>
        <p:spPr>
          <a:xfrm>
            <a:off x="626618" y="2324325"/>
            <a:ext cx="6827700" cy="641175"/>
          </a:xfrm>
          <a:prstGeom prst="rect">
            <a:avLst/>
          </a:prstGeom>
          <a:noFill/>
          <a:ln>
            <a:noFill/>
          </a:ln>
        </p:spPr>
        <p:txBody>
          <a:bodyPr spcFirstLastPara="1" wrap="square" lIns="91425" tIns="91425" rIns="91425" bIns="91425" anchor="b" anchorCtr="0">
            <a:noAutofit/>
          </a:bodyPr>
          <a:lstStyle/>
          <a:p>
            <a:r>
              <a:rPr lang="en" sz="3000" b="0"/>
              <a:t>(Low-Code Path) | [Madhuri Sharma] </a:t>
            </a:r>
          </a:p>
        </p:txBody>
      </p:sp>
      <p:sp>
        <p:nvSpPr>
          <p:cNvPr id="107" name="Google Shape;107;p1"/>
          <p:cNvSpPr txBox="1">
            <a:spLocks noGrp="1"/>
          </p:cNvSpPr>
          <p:nvPr>
            <p:ph type="ctrTitle"/>
          </p:nvPr>
        </p:nvSpPr>
        <p:spPr>
          <a:xfrm>
            <a:off x="746934" y="2647372"/>
            <a:ext cx="6827700" cy="498300"/>
          </a:xfrm>
          <a:prstGeom prst="rect">
            <a:avLst/>
          </a:prstGeom>
          <a:noFill/>
          <a:ln>
            <a:noFill/>
          </a:ln>
        </p:spPr>
        <p:txBody>
          <a:bodyPr spcFirstLastPara="1" wrap="square" lIns="91425" tIns="91425" rIns="91425" bIns="91425" anchor="b" anchorCtr="0">
            <a:noAutofit/>
          </a:bodyPr>
          <a:lstStyle/>
          <a:p>
            <a:r>
              <a:rPr lang="en" sz="1600" b="0"/>
              <a:t>[25th Oct 2026]</a:t>
            </a:r>
            <a:endParaRPr sz="1600" b="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Contents / Agenda</a:t>
            </a:r>
            <a:endParaRPr>
              <a:solidFill>
                <a:srgbClr val="000000"/>
              </a:solidFill>
            </a:endParaRPr>
          </a:p>
        </p:txBody>
      </p:sp>
      <p:sp>
        <p:nvSpPr>
          <p:cNvPr id="113" name="Google Shape;113;p2"/>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rgbClr val="000000"/>
              </a:buClr>
              <a:buSzPts val="1400"/>
              <a:buChar char="●"/>
            </a:pPr>
            <a:r>
              <a:rPr lang="en" sz="1400">
                <a:solidFill>
                  <a:srgbClr val="000000"/>
                </a:solidFill>
              </a:rPr>
              <a:t>Executive Summary </a:t>
            </a:r>
            <a:endParaRPr sz="1400">
              <a:solidFill>
                <a:srgbClr val="000000"/>
              </a:solidFill>
            </a:endParaRPr>
          </a:p>
          <a:p>
            <a:pPr marL="457200" lvl="0" indent="-317500" algn="l" rtl="0">
              <a:lnSpc>
                <a:spcPct val="115000"/>
              </a:lnSpc>
              <a:spcBef>
                <a:spcPts val="1000"/>
              </a:spcBef>
              <a:spcAft>
                <a:spcPts val="0"/>
              </a:spcAft>
              <a:buClr>
                <a:srgbClr val="000000"/>
              </a:buClr>
              <a:buSzPts val="1400"/>
              <a:buChar char="●"/>
            </a:pPr>
            <a:r>
              <a:rPr lang="en" sz="1400">
                <a:solidFill>
                  <a:srgbClr val="000000"/>
                </a:solidFill>
              </a:rPr>
              <a:t>Business Problem Overview and Solution Approach</a:t>
            </a:r>
            <a:endParaRPr sz="1400">
              <a:solidFill>
                <a:srgbClr val="000000"/>
              </a:solidFill>
            </a:endParaRPr>
          </a:p>
          <a:p>
            <a:pPr marL="457200" lvl="0" indent="-317500" algn="l" rtl="0">
              <a:lnSpc>
                <a:spcPct val="115000"/>
              </a:lnSpc>
              <a:spcBef>
                <a:spcPts val="1000"/>
              </a:spcBef>
              <a:spcAft>
                <a:spcPts val="0"/>
              </a:spcAft>
              <a:buClr>
                <a:srgbClr val="000000"/>
              </a:buClr>
              <a:buSzPts val="1400"/>
              <a:buChar char="●"/>
            </a:pPr>
            <a:r>
              <a:rPr lang="en" sz="1400">
                <a:solidFill>
                  <a:srgbClr val="000000"/>
                </a:solidFill>
              </a:rPr>
              <a:t>EDA Results</a:t>
            </a:r>
            <a:endParaRPr sz="1400">
              <a:solidFill>
                <a:srgbClr val="000000"/>
              </a:solidFill>
            </a:endParaRPr>
          </a:p>
          <a:p>
            <a:pPr marL="457200" lvl="0" indent="-317500" algn="l" rtl="0">
              <a:lnSpc>
                <a:spcPct val="115000"/>
              </a:lnSpc>
              <a:spcBef>
                <a:spcPts val="1000"/>
              </a:spcBef>
              <a:spcAft>
                <a:spcPts val="0"/>
              </a:spcAft>
              <a:buClr>
                <a:srgbClr val="000000"/>
              </a:buClr>
              <a:buSzPts val="1400"/>
              <a:buChar char="●"/>
            </a:pPr>
            <a:r>
              <a:rPr lang="en" sz="1400">
                <a:solidFill>
                  <a:srgbClr val="000000"/>
                </a:solidFill>
              </a:rPr>
              <a:t>Data Preprocessing </a:t>
            </a:r>
            <a:endParaRPr sz="1400">
              <a:solidFill>
                <a:srgbClr val="000000"/>
              </a:solidFill>
            </a:endParaRPr>
          </a:p>
          <a:p>
            <a:pPr marL="457200" lvl="0" indent="-317500" algn="l" rtl="0">
              <a:lnSpc>
                <a:spcPct val="115000"/>
              </a:lnSpc>
              <a:spcBef>
                <a:spcPts val="1000"/>
              </a:spcBef>
              <a:spcAft>
                <a:spcPts val="0"/>
              </a:spcAft>
              <a:buClr>
                <a:srgbClr val="000000"/>
              </a:buClr>
              <a:buSzPts val="1400"/>
              <a:buChar char="●"/>
            </a:pPr>
            <a:r>
              <a:rPr lang="en" sz="1400">
                <a:solidFill>
                  <a:srgbClr val="000000"/>
                </a:solidFill>
              </a:rPr>
              <a:t>Model Performance Summary</a:t>
            </a:r>
            <a:endParaRPr sz="1400">
              <a:solidFill>
                <a:srgbClr val="000000"/>
              </a:solidFill>
            </a:endParaRPr>
          </a:p>
          <a:p>
            <a:pPr marL="457200" lvl="0" indent="-317500" algn="l" rtl="0">
              <a:lnSpc>
                <a:spcPct val="115000"/>
              </a:lnSpc>
              <a:spcBef>
                <a:spcPts val="1000"/>
              </a:spcBef>
              <a:spcAft>
                <a:spcPts val="1000"/>
              </a:spcAft>
              <a:buClr>
                <a:srgbClr val="000000"/>
              </a:buClr>
              <a:buSzPts val="1400"/>
              <a:buChar char="●"/>
            </a:pPr>
            <a:r>
              <a:rPr lang="en" sz="1400">
                <a:solidFill>
                  <a:srgbClr val="000000"/>
                </a:solidFill>
              </a:rPr>
              <a:t>Appendix</a:t>
            </a:r>
            <a:endParaRPr sz="140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Executive Summary </a:t>
            </a:r>
            <a:endParaRPr>
              <a:solidFill>
                <a:srgbClr val="000000"/>
              </a:solidFill>
            </a:endParaRPr>
          </a:p>
        </p:txBody>
      </p:sp>
      <p:sp>
        <p:nvSpPr>
          <p:cNvPr id="119" name="Google Shape;119;p3"/>
          <p:cNvSpPr txBox="1">
            <a:spLocks noGrp="1"/>
          </p:cNvSpPr>
          <p:nvPr>
            <p:ph type="body" idx="1"/>
          </p:nvPr>
        </p:nvSpPr>
        <p:spPr>
          <a:xfrm>
            <a:off x="202550" y="869494"/>
            <a:ext cx="8629800" cy="2842031"/>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dirty="0" err="1">
                <a:solidFill>
                  <a:schemeClr val="dk1"/>
                </a:solidFill>
              </a:rPr>
              <a:t>GlobalEdge</a:t>
            </a:r>
            <a:r>
              <a:rPr lang="en" sz="1400" dirty="0">
                <a:solidFill>
                  <a:schemeClr val="dk1"/>
                </a:solidFill>
              </a:rPr>
              <a:t> brokers lose signal every morning: too much news, price, and filing data to review before client calls, creating an intelligence and compliance gap.</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We built a proof-of-concept Retrieval-Augmented Generation (RAG) assistant that lets brokers ask plain-English questions and get grounded, source-cited answers from news, prices, and SEC filings.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dirty="0">
                <a:solidFill>
                  <a:schemeClr val="dk1"/>
                </a:solidFill>
              </a:rPr>
              <a:t>Answer quality was improved automatically with </a:t>
            </a:r>
            <a:r>
              <a:rPr lang="en" sz="1400" dirty="0" err="1">
                <a:solidFill>
                  <a:schemeClr val="dk1"/>
                </a:solidFill>
              </a:rPr>
              <a:t>DeepEval</a:t>
            </a:r>
            <a:r>
              <a:rPr lang="en" sz="1400" dirty="0">
                <a:solidFill>
                  <a:schemeClr val="dk1"/>
                </a:solidFill>
              </a:rPr>
              <a:t> GEPA prompt optimization and then tuned across three RAG configurations, measured on a 20-example gold benchmark.</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Recommendation: deploy the optimized prompt with the best-performing configuration, keep a broker in the loop for advisory decisions, and use the benchmark as a release gate for future changes.</a:t>
            </a:r>
            <a:endParaRPr sz="1200">
              <a:solidFill>
                <a:schemeClr val="dk1"/>
              </a:solidFill>
            </a:endParaRPr>
          </a:p>
        </p:txBody>
      </p:sp>
      <p:pic>
        <p:nvPicPr>
          <p:cNvPr id="2" name="Picture 1" descr="A screenshot of a computer&#10;&#10;AI-generated content may be incorrect.">
            <a:extLst>
              <a:ext uri="{FF2B5EF4-FFF2-40B4-BE49-F238E27FC236}">
                <a16:creationId xmlns:a16="http://schemas.microsoft.com/office/drawing/2014/main" id="{90A59903-D856-6A53-4234-A23E7D9A7BCD}"/>
              </a:ext>
            </a:extLst>
          </p:cNvPr>
          <p:cNvPicPr>
            <a:picLocks noChangeAspect="1"/>
          </p:cNvPicPr>
          <p:nvPr/>
        </p:nvPicPr>
        <p:blipFill>
          <a:blip r:embed="rId3"/>
          <a:stretch>
            <a:fillRect/>
          </a:stretch>
        </p:blipFill>
        <p:spPr>
          <a:xfrm>
            <a:off x="107282" y="3588670"/>
            <a:ext cx="4011530" cy="981576"/>
          </a:xfrm>
          <a:prstGeom prst="rect">
            <a:avLst/>
          </a:prstGeom>
        </p:spPr>
      </p:pic>
      <p:pic>
        <p:nvPicPr>
          <p:cNvPr id="3" name="Picture 2" descr="A screenshot of a test&#10;&#10;AI-generated content may be incorrect.">
            <a:extLst>
              <a:ext uri="{FF2B5EF4-FFF2-40B4-BE49-F238E27FC236}">
                <a16:creationId xmlns:a16="http://schemas.microsoft.com/office/drawing/2014/main" id="{21384EE8-6227-ABF8-8AEA-C192373661F9}"/>
              </a:ext>
            </a:extLst>
          </p:cNvPr>
          <p:cNvPicPr>
            <a:picLocks noChangeAspect="1"/>
          </p:cNvPicPr>
          <p:nvPr/>
        </p:nvPicPr>
        <p:blipFill>
          <a:blip r:embed="rId4"/>
          <a:stretch>
            <a:fillRect/>
          </a:stretch>
        </p:blipFill>
        <p:spPr>
          <a:xfrm>
            <a:off x="4384006" y="3408020"/>
            <a:ext cx="4519362" cy="138799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Business Problem Overview and Solution Approach</a:t>
            </a:r>
            <a:endParaRPr>
              <a:solidFill>
                <a:srgbClr val="000000"/>
              </a:solidFill>
            </a:endParaRPr>
          </a:p>
        </p:txBody>
      </p:sp>
      <p:sp>
        <p:nvSpPr>
          <p:cNvPr id="125" name="Google Shape;125;p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Problem:</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a:solidFill>
                  <a:schemeClr val="dk1"/>
                </a:solidFill>
              </a:rPr>
              <a:t>Brokers must review large volumes of overnight news, price moves, earnings, analyst commentary, and SEC filings in a short pre-market window.</a:t>
            </a:r>
            <a:endParaRPr sz="10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a:solidFill>
                  <a:schemeClr val="dk1"/>
                </a:solidFill>
              </a:rPr>
              <a:t>They can only read a fraction, so important disclosures and signals are missed, and answers to clients rely on partial information or memory.</a:t>
            </a:r>
            <a:endParaRPr sz="10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a:solidFill>
                  <a:schemeClr val="dk1"/>
                </a:solidFill>
              </a:rPr>
              <a:t>This raises compliance risk and erodes client trust when brokers cannot justify a recommendation with evidence.</a:t>
            </a:r>
            <a:endParaRPr sz="1000">
              <a:solidFill>
                <a:schemeClr val="dk1"/>
              </a:solidFill>
            </a:endParaRPr>
          </a:p>
          <a:p>
            <a:pPr indent="-317500">
              <a:spcBef>
                <a:spcPts val="800"/>
              </a:spcBef>
              <a:buClr>
                <a:schemeClr val="dk1"/>
              </a:buClr>
              <a:buSzPts val="1400"/>
            </a:pPr>
            <a:endParaRPr lang="en" sz="1400" b="1" dirty="0">
              <a:solidFill>
                <a:schemeClr val="dk1"/>
              </a:solidFill>
            </a:endParaRPr>
          </a:p>
          <a:p>
            <a:pPr marL="457200" lvl="0" indent="-317500" algn="l">
              <a:lnSpc>
                <a:spcPct val="114999"/>
              </a:lnSpc>
              <a:spcBef>
                <a:spcPts val="800"/>
              </a:spcBef>
              <a:spcAft>
                <a:spcPts val="0"/>
              </a:spcAft>
              <a:buClr>
                <a:schemeClr val="dk1"/>
              </a:buClr>
              <a:buSzPts val="1400"/>
              <a:buChar char="●"/>
            </a:pPr>
            <a:r>
              <a:rPr lang="en" sz="1400" b="1">
                <a:solidFill>
                  <a:schemeClr val="dk1"/>
                </a:solidFill>
              </a:rPr>
              <a:t>Solution approach / methodology:</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dirty="0">
                <a:solidFill>
                  <a:schemeClr val="dk1"/>
                </a:solidFill>
              </a:rPr>
              <a:t>Ingest three datasets (financial news, global prices, SEC 10-K filings) into </a:t>
            </a:r>
            <a:r>
              <a:rPr lang="en" sz="1000" dirty="0" err="1">
                <a:solidFill>
                  <a:schemeClr val="dk1"/>
                </a:solidFill>
              </a:rPr>
              <a:t>LangChain</a:t>
            </a:r>
            <a:r>
              <a:rPr lang="en" sz="1000" dirty="0">
                <a:solidFill>
                  <a:schemeClr val="dk1"/>
                </a:solidFill>
              </a:rPr>
              <a:t> documents with traceable metadata.</a:t>
            </a:r>
            <a:endParaRPr sz="10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a:solidFill>
                  <a:schemeClr val="dk1"/>
                </a:solidFill>
              </a:rPr>
              <a:t>Chunk the filings, embed everything with text-embedding-3-small, and index into a local Chroma vector store for semantic retrieval.</a:t>
            </a:r>
            <a:endParaRPr sz="10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a:solidFill>
                  <a:schemeClr val="dk1"/>
                </a:solidFill>
              </a:rPr>
              <a:t>Generate grounded answers with a GPT model constrained to the retrieved context, citing sources.</a:t>
            </a:r>
            <a:endParaRPr sz="10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000" dirty="0">
                <a:solidFill>
                  <a:schemeClr val="dk1"/>
                </a:solidFill>
              </a:rPr>
              <a:t>Optimize the answering prompt with </a:t>
            </a:r>
            <a:r>
              <a:rPr lang="en" sz="1000" dirty="0" err="1">
                <a:solidFill>
                  <a:schemeClr val="dk1"/>
                </a:solidFill>
              </a:rPr>
              <a:t>DeepEval</a:t>
            </a:r>
            <a:r>
              <a:rPr lang="en" sz="1000" dirty="0">
                <a:solidFill>
                  <a:schemeClr val="dk1"/>
                </a:solidFill>
              </a:rPr>
              <a:t> GEPA and tune retrieval/generation configs, scored by relevance, faithfulness, and completeness metrics.</a:t>
            </a:r>
            <a:endParaRPr sz="10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EDA Results</a:t>
            </a:r>
            <a:endParaRPr>
              <a:solidFill>
                <a:srgbClr val="000000"/>
              </a:solidFill>
            </a:endParaRPr>
          </a:p>
        </p:txBody>
      </p:sp>
      <p:sp>
        <p:nvSpPr>
          <p:cNvPr id="131" name="Google Shape;131;p5"/>
          <p:cNvSpPr txBox="1">
            <a:spLocks noGrp="1"/>
          </p:cNvSpPr>
          <p:nvPr>
            <p:ph type="body" idx="1"/>
          </p:nvPr>
        </p:nvSpPr>
        <p:spPr>
          <a:xfrm>
            <a:off x="256465" y="653834"/>
            <a:ext cx="8629800" cy="2256911"/>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200">
                <a:solidFill>
                  <a:schemeClr val="dk1"/>
                </a:solidFill>
              </a:rPr>
              <a:t>Global news (global_news.csv): article title, description, content, source, URL, publish date, and query across companies, markets, and macro events.</a:t>
            </a:r>
            <a:endParaRPr lang="en-US" sz="12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200">
                <a:solidFill>
                  <a:schemeClr val="dk1"/>
                </a:solidFill>
              </a:rPr>
              <a:t>Stock prices (stock_price_details.csv): daily OHLC and volume across global equities, crypto, and forex, keyed by ticker, name, and date.</a:t>
            </a:r>
            <a:endParaRPr sz="12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200">
                <a:solidFill>
                  <a:schemeClr val="dk1"/>
                </a:solidFill>
              </a:rPr>
              <a:t>SEC filings (sec_filings_10k.txt): large ~8 MB plain-text 10-K content (Apple, Alphabet, Tesla, Microsoft and others) with risk, governance, and financial disclosures.</a:t>
            </a:r>
            <a:endParaRPr sz="12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200">
                <a:solidFill>
                  <a:schemeClr val="dk1"/>
                </a:solidFill>
              </a:rPr>
              <a:t>Gold benchmark (golden_benchmark_dataset.csv): 20 curated broker question / expected-answer / context examples used to evaluate every approach.</a:t>
            </a:r>
            <a:endParaRPr sz="1200">
              <a:solidFill>
                <a:schemeClr val="dk1"/>
              </a:solidFill>
            </a:endParaRPr>
          </a:p>
        </p:txBody>
      </p:sp>
      <p:pic>
        <p:nvPicPr>
          <p:cNvPr id="3" name="Picture 2" descr="A screenshot of a computer error&#10;&#10;AI-generated content may be incorrect.">
            <a:extLst>
              <a:ext uri="{FF2B5EF4-FFF2-40B4-BE49-F238E27FC236}">
                <a16:creationId xmlns:a16="http://schemas.microsoft.com/office/drawing/2014/main" id="{CA98C2E4-70CA-F217-6A0F-AD4F5E8275B2}"/>
              </a:ext>
            </a:extLst>
          </p:cNvPr>
          <p:cNvPicPr>
            <a:picLocks noChangeAspect="1"/>
          </p:cNvPicPr>
          <p:nvPr/>
        </p:nvPicPr>
        <p:blipFill>
          <a:blip r:embed="rId3"/>
          <a:stretch>
            <a:fillRect/>
          </a:stretch>
        </p:blipFill>
        <p:spPr>
          <a:xfrm>
            <a:off x="358820" y="2788876"/>
            <a:ext cx="7224623" cy="1124747"/>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D3FDDECE-6854-6D60-8045-E7B500BCE93D}"/>
              </a:ext>
            </a:extLst>
          </p:cNvPr>
          <p:cNvPicPr>
            <a:picLocks noChangeAspect="1"/>
          </p:cNvPicPr>
          <p:nvPr/>
        </p:nvPicPr>
        <p:blipFill>
          <a:blip r:embed="rId4"/>
          <a:stretch>
            <a:fillRect/>
          </a:stretch>
        </p:blipFill>
        <p:spPr>
          <a:xfrm>
            <a:off x="355840" y="3912179"/>
            <a:ext cx="6976613" cy="8020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Data Preprocessing </a:t>
            </a:r>
            <a:endParaRPr>
              <a:solidFill>
                <a:srgbClr val="000000"/>
              </a:solidFill>
            </a:endParaRPr>
          </a:p>
        </p:txBody>
      </p:sp>
      <p:sp>
        <p:nvSpPr>
          <p:cNvPr id="138" name="Google Shape;138;p6"/>
          <p:cNvSpPr txBox="1">
            <a:spLocks noGrp="1"/>
          </p:cNvSpPr>
          <p:nvPr>
            <p:ph type="body" idx="1"/>
          </p:nvPr>
        </p:nvSpPr>
        <p:spPr>
          <a:xfrm>
            <a:off x="202550" y="861975"/>
            <a:ext cx="8629800" cy="3175198"/>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Duplicate / integrity check: each CSV row and the filings text are loaded once; column headers are detected dynamically so source and metadata fields map correctly.</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Missing value handling: a flexible column resolver picks the first available source/metadata column, so missing optional fields do not break loading.</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dirty="0">
                <a:solidFill>
                  <a:schemeClr val="dk1"/>
                </a:solidFill>
              </a:rPr>
              <a:t>Feature engineering (document construction): each news and price row becomes one </a:t>
            </a:r>
            <a:r>
              <a:rPr lang="en" sz="1400" dirty="0" err="1">
                <a:solidFill>
                  <a:schemeClr val="dk1"/>
                </a:solidFill>
              </a:rPr>
              <a:t>LangChain</a:t>
            </a:r>
            <a:r>
              <a:rPr lang="en" sz="1400" dirty="0">
                <a:solidFill>
                  <a:schemeClr val="dk1"/>
                </a:solidFill>
              </a:rPr>
              <a:t> Document; dataset-level metadata (</a:t>
            </a:r>
            <a:r>
              <a:rPr lang="en" sz="1400" dirty="0" err="1">
                <a:solidFill>
                  <a:schemeClr val="dk1"/>
                </a:solidFill>
              </a:rPr>
              <a:t>source_file</a:t>
            </a:r>
            <a:r>
              <a:rPr lang="en" sz="1400" dirty="0">
                <a:solidFill>
                  <a:schemeClr val="dk1"/>
                </a:solidFill>
              </a:rPr>
              <a:t>, </a:t>
            </a:r>
            <a:r>
              <a:rPr lang="en" sz="1400" dirty="0" err="1">
                <a:solidFill>
                  <a:schemeClr val="dk1"/>
                </a:solidFill>
              </a:rPr>
              <a:t>source_type</a:t>
            </a:r>
            <a:r>
              <a:rPr lang="en" sz="1400" dirty="0">
                <a:solidFill>
                  <a:schemeClr val="dk1"/>
                </a:solidFill>
              </a:rPr>
              <a:t>) is attached for traceability.</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dirty="0">
                <a:solidFill>
                  <a:schemeClr val="dk1"/>
                </a:solidFill>
              </a:rPr>
              <a:t>Filing chunking: SEC text is split with </a:t>
            </a:r>
            <a:r>
              <a:rPr lang="en" sz="1400" dirty="0" err="1">
                <a:solidFill>
                  <a:schemeClr val="dk1"/>
                </a:solidFill>
              </a:rPr>
              <a:t>RecursiveCharacterTextSplitter</a:t>
            </a:r>
            <a:r>
              <a:rPr lang="en" sz="1400" dirty="0">
                <a:solidFill>
                  <a:schemeClr val="dk1"/>
                </a:solidFill>
              </a:rPr>
              <a:t> (</a:t>
            </a:r>
            <a:r>
              <a:rPr lang="en" sz="1400" dirty="0" err="1">
                <a:solidFill>
                  <a:schemeClr val="dk1"/>
                </a:solidFill>
              </a:rPr>
              <a:t>chunk_size</a:t>
            </a:r>
            <a:r>
              <a:rPr lang="en" sz="1400" dirty="0">
                <a:solidFill>
                  <a:schemeClr val="dk1"/>
                </a:solidFill>
              </a:rPr>
              <a:t> 1000, </a:t>
            </a:r>
            <a:r>
              <a:rPr lang="en" sz="1400" dirty="0" err="1">
                <a:solidFill>
                  <a:schemeClr val="dk1"/>
                </a:solidFill>
              </a:rPr>
              <a:t>chunk_overlap</a:t>
            </a:r>
            <a:r>
              <a:rPr lang="en" sz="1400" dirty="0">
                <a:solidFill>
                  <a:schemeClr val="dk1"/>
                </a:solidFill>
              </a:rPr>
              <a:t> 150) to preserve context continuity for retrieval.</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Data preparation for modeling: all documents are embedded (text-embedding-3-small) and indexed into Chroma; the 20 gold examples are shuffled (seed 42) and split 10 train / 10 test.</a:t>
            </a:r>
            <a:endParaRPr sz="1400">
              <a:solidFill>
                <a:schemeClr val="dk1"/>
              </a:solidFill>
            </a:endParaRPr>
          </a:p>
        </p:txBody>
      </p:sp>
      <p:pic>
        <p:nvPicPr>
          <p:cNvPr id="3" name="Picture 2" descr="A screenshot of a computer code&#10;&#10;AI-generated content may be incorrect.">
            <a:extLst>
              <a:ext uri="{FF2B5EF4-FFF2-40B4-BE49-F238E27FC236}">
                <a16:creationId xmlns:a16="http://schemas.microsoft.com/office/drawing/2014/main" id="{473D7ED9-DECA-08A5-D44A-C3A66D1B0F46}"/>
              </a:ext>
            </a:extLst>
          </p:cNvPr>
          <p:cNvPicPr>
            <a:picLocks noChangeAspect="1"/>
          </p:cNvPicPr>
          <p:nvPr/>
        </p:nvPicPr>
        <p:blipFill>
          <a:blip r:embed="rId3"/>
          <a:stretch>
            <a:fillRect/>
          </a:stretch>
        </p:blipFill>
        <p:spPr>
          <a:xfrm>
            <a:off x="2493545" y="3819273"/>
            <a:ext cx="3803483" cy="132497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Model Performance Summary and Final Model Selection</a:t>
            </a:r>
            <a:endParaRPr>
              <a:solidFill>
                <a:srgbClr val="000000"/>
              </a:solidFill>
            </a:endParaRPr>
          </a:p>
        </p:txBody>
      </p:sp>
      <p:sp>
        <p:nvSpPr>
          <p:cNvPr id="144" name="Google Shape;144;p7"/>
          <p:cNvSpPr txBox="1">
            <a:spLocks noGrp="1"/>
          </p:cNvSpPr>
          <p:nvPr>
            <p:ph type="body" idx="1"/>
          </p:nvPr>
        </p:nvSpPr>
        <p:spPr>
          <a:xfrm>
            <a:off x="202550" y="869494"/>
            <a:ext cx="8629800" cy="2428446"/>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Five approaches are compared on the held-out test set: Baseline Prompt, GEPA-Optimized Prompt, and three tuned RAG configurations (Precision-Focused, Balanced, Context-Heavy).</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dirty="0">
                <a:solidFill>
                  <a:schemeClr val="dk1"/>
                </a:solidFill>
              </a:rPr>
              <a:t>Each is scored on three </a:t>
            </a:r>
            <a:r>
              <a:rPr lang="en" sz="1400" dirty="0" err="1">
                <a:solidFill>
                  <a:schemeClr val="dk1"/>
                </a:solidFill>
              </a:rPr>
              <a:t>DeepEval</a:t>
            </a:r>
            <a:r>
              <a:rPr lang="en" sz="1400" dirty="0">
                <a:solidFill>
                  <a:schemeClr val="dk1"/>
                </a:solidFill>
              </a:rPr>
              <a:t> GEval metrics - Relevance, Faithfulness, Completeness - plus an overall mean score.</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GEPA prompt optimization is expected to lift the metrics over the manual baseline prompt; configuration tuning then trades grounding precision against breadth of context.</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The best overall approach is selected automatically as the highest overall-score row in the comparison table (see next slide for the final-model treatment).</a:t>
            </a:r>
            <a:endParaRPr sz="1200">
              <a:solidFill>
                <a:schemeClr val="dk1"/>
              </a:solidFill>
            </a:endParaRPr>
          </a:p>
        </p:txBody>
      </p:sp>
      <p:sp>
        <p:nvSpPr>
          <p:cNvPr id="145" name="Google Shape;145;p7"/>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pic>
        <p:nvPicPr>
          <p:cNvPr id="2" name="Picture 1" descr="A screenshot of a test&#10;&#10;AI-generated content may be incorrect.">
            <a:extLst>
              <a:ext uri="{FF2B5EF4-FFF2-40B4-BE49-F238E27FC236}">
                <a16:creationId xmlns:a16="http://schemas.microsoft.com/office/drawing/2014/main" id="{0A3ADCF1-10CC-56F6-6741-4B86F439FB09}"/>
              </a:ext>
            </a:extLst>
          </p:cNvPr>
          <p:cNvPicPr>
            <a:picLocks noChangeAspect="1"/>
          </p:cNvPicPr>
          <p:nvPr/>
        </p:nvPicPr>
        <p:blipFill>
          <a:blip r:embed="rId3"/>
          <a:stretch>
            <a:fillRect/>
          </a:stretch>
        </p:blipFill>
        <p:spPr>
          <a:xfrm>
            <a:off x="4075697" y="3242585"/>
            <a:ext cx="5015666" cy="1621106"/>
          </a:xfrm>
          <a:prstGeom prst="rect">
            <a:avLst/>
          </a:prstGeom>
        </p:spPr>
      </p:pic>
      <p:pic>
        <p:nvPicPr>
          <p:cNvPr id="3" name="Picture 2" descr="A screenshot of a graph&#10;&#10;AI-generated content may be incorrect.">
            <a:extLst>
              <a:ext uri="{FF2B5EF4-FFF2-40B4-BE49-F238E27FC236}">
                <a16:creationId xmlns:a16="http://schemas.microsoft.com/office/drawing/2014/main" id="{3389376F-B249-D962-03AD-C23FB37576CD}"/>
              </a:ext>
            </a:extLst>
          </p:cNvPr>
          <p:cNvPicPr>
            <a:picLocks noChangeAspect="1"/>
          </p:cNvPicPr>
          <p:nvPr/>
        </p:nvPicPr>
        <p:blipFill>
          <a:blip r:embed="rId4"/>
          <a:stretch>
            <a:fillRect/>
          </a:stretch>
        </p:blipFill>
        <p:spPr>
          <a:xfrm>
            <a:off x="492543" y="3547560"/>
            <a:ext cx="3210928" cy="73292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0" name="Title 40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Final Model Selection</a:t>
            </a:r>
            <a:endParaRPr>
              <a:solidFill>
                <a:srgbClr val="000000"/>
              </a:solidFill>
            </a:endParaRPr>
          </a:p>
        </p:txBody>
      </p:sp>
      <p:sp>
        <p:nvSpPr>
          <p:cNvPr id="401" name="Body 401"/>
          <p:cNvSpPr txBox="1">
            <a:spLocks noGrp="1"/>
          </p:cNvSpPr>
          <p:nvPr>
            <p:ph type="body" idx="1"/>
          </p:nvPr>
        </p:nvSpPr>
        <p:spPr>
          <a:xfrm>
            <a:off x="202550" y="869494"/>
            <a:ext cx="8629800" cy="2992426"/>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100" dirty="0">
                <a:solidFill>
                  <a:schemeClr val="dk1"/>
                </a:solidFill>
              </a:rPr>
              <a:t>Selection rule: the approach with the highest overall </a:t>
            </a:r>
            <a:r>
              <a:rPr lang="en" sz="1100" dirty="0" err="1">
                <a:solidFill>
                  <a:schemeClr val="dk1"/>
                </a:solidFill>
              </a:rPr>
              <a:t>DeepEval</a:t>
            </a:r>
            <a:r>
              <a:rPr lang="en" sz="1100" dirty="0">
                <a:solidFill>
                  <a:schemeClr val="dk1"/>
                </a:solidFill>
              </a:rPr>
              <a:t> score across Relevance, Faithfulness, and Completeness on the test set is chosen automatically (Section 3.6).</a:t>
            </a:r>
            <a:endParaRPr lang="en-US" sz="11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100" dirty="0">
                <a:solidFill>
                  <a:schemeClr val="dk1"/>
                </a:solidFill>
              </a:rPr>
              <a:t>Final model (to be confirmed from your run): optimized prompt combined with the best configuration; its exact k / temperature / </a:t>
            </a:r>
            <a:r>
              <a:rPr lang="en" sz="1100" dirty="0" err="1">
                <a:solidFill>
                  <a:schemeClr val="dk1"/>
                </a:solidFill>
              </a:rPr>
              <a:t>top_p</a:t>
            </a:r>
            <a:r>
              <a:rPr lang="en" sz="1100" dirty="0">
                <a:solidFill>
                  <a:schemeClr val="dk1"/>
                </a:solidFill>
              </a:rPr>
              <a:t> / </a:t>
            </a:r>
            <a:r>
              <a:rPr lang="en" sz="1100" dirty="0" err="1">
                <a:solidFill>
                  <a:schemeClr val="dk1"/>
                </a:solidFill>
              </a:rPr>
              <a:t>max_tokens</a:t>
            </a:r>
            <a:r>
              <a:rPr lang="en" sz="1100" dirty="0">
                <a:solidFill>
                  <a:schemeClr val="dk1"/>
                </a:solidFill>
              </a:rPr>
              <a:t> are those of the winning config.</a:t>
            </a:r>
            <a:endParaRPr sz="11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100" i="1" dirty="0">
                <a:solidFill>
                  <a:schemeClr val="dk1"/>
                </a:solidFill>
              </a:rPr>
              <a:t>Representative best-config parameters (confirm after running): Balanced config - k 4, temperature 0.2, </a:t>
            </a:r>
            <a:r>
              <a:rPr lang="en" sz="1100" i="1" dirty="0" err="1">
                <a:solidFill>
                  <a:schemeClr val="dk1"/>
                </a:solidFill>
              </a:rPr>
              <a:t>top_p</a:t>
            </a:r>
            <a:r>
              <a:rPr lang="en" sz="1100" i="1" dirty="0">
                <a:solidFill>
                  <a:schemeClr val="dk1"/>
                </a:solidFill>
              </a:rPr>
              <a:t> 0.9, </a:t>
            </a:r>
            <a:r>
              <a:rPr lang="en" sz="1100" i="1" dirty="0" err="1">
                <a:solidFill>
                  <a:schemeClr val="dk1"/>
                </a:solidFill>
              </a:rPr>
              <a:t>max_tokens</a:t>
            </a:r>
            <a:r>
              <a:rPr lang="en" sz="1100" i="1" dirty="0">
                <a:solidFill>
                  <a:schemeClr val="dk1"/>
                </a:solidFill>
              </a:rPr>
              <a:t> 700 - unless Precision-Focused or Context-Heavy scores higher.</a:t>
            </a:r>
            <a:endParaRPr sz="11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100" dirty="0">
                <a:solidFill>
                  <a:schemeClr val="dk1"/>
                </a:solidFill>
              </a:rPr>
              <a:t>Most important factors driving quality: retrieval depth (k) mainly affects completeness; temperature and </a:t>
            </a:r>
            <a:r>
              <a:rPr lang="en" sz="1100" dirty="0" err="1">
                <a:solidFill>
                  <a:schemeClr val="dk1"/>
                </a:solidFill>
              </a:rPr>
              <a:t>top_p</a:t>
            </a:r>
            <a:r>
              <a:rPr lang="en" sz="1100" dirty="0">
                <a:solidFill>
                  <a:schemeClr val="dk1"/>
                </a:solidFill>
              </a:rPr>
              <a:t> affect faithfulness and wording; the optimized prompt enforces grounding and citations.</a:t>
            </a:r>
            <a:endParaRPr sz="11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100">
                <a:solidFill>
                  <a:schemeClr val="dk1"/>
                </a:solidFill>
              </a:rPr>
              <a:t>Comment on final performance: state the winning approach's overall score and the per-metric gains over the baseline.</a:t>
            </a:r>
            <a:endParaRPr sz="1100">
              <a:solidFill>
                <a:schemeClr val="dk1"/>
              </a:solidFill>
            </a:endParaRPr>
          </a:p>
        </p:txBody>
      </p:sp>
      <p:pic>
        <p:nvPicPr>
          <p:cNvPr id="3" name="Picture 2" descr="A screenshot of a computer program&#10;&#10;AI-generated content may be incorrect.">
            <a:extLst>
              <a:ext uri="{FF2B5EF4-FFF2-40B4-BE49-F238E27FC236}">
                <a16:creationId xmlns:a16="http://schemas.microsoft.com/office/drawing/2014/main" id="{3248DD13-BECA-27A3-55B7-1B22786753D4}"/>
              </a:ext>
            </a:extLst>
          </p:cNvPr>
          <p:cNvPicPr>
            <a:picLocks noChangeAspect="1"/>
          </p:cNvPicPr>
          <p:nvPr/>
        </p:nvPicPr>
        <p:blipFill>
          <a:blip r:embed="rId2"/>
          <a:stretch>
            <a:fillRect/>
          </a:stretch>
        </p:blipFill>
        <p:spPr>
          <a:xfrm>
            <a:off x="2283494" y="3225717"/>
            <a:ext cx="3614487" cy="169996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2">
          <a:extLst>
            <a:ext uri="{FF2B5EF4-FFF2-40B4-BE49-F238E27FC236}">
              <a16:creationId xmlns:a16="http://schemas.microsoft.com/office/drawing/2014/main" id="{035DFCE1-B615-6D75-4FB2-5189D623576F}"/>
            </a:ext>
          </a:extLst>
        </p:cNvPr>
        <p:cNvGrpSpPr/>
        <p:nvPr/>
      </p:nvGrpSpPr>
      <p:grpSpPr>
        <a:xfrm>
          <a:off x="0" y="0"/>
          <a:ext cx="0" cy="0"/>
          <a:chOff x="0" y="0"/>
          <a:chExt cx="0" cy="0"/>
        </a:xfrm>
      </p:grpSpPr>
      <p:sp>
        <p:nvSpPr>
          <p:cNvPr id="400" name="Title 400">
            <a:extLst>
              <a:ext uri="{FF2B5EF4-FFF2-40B4-BE49-F238E27FC236}">
                <a16:creationId xmlns:a16="http://schemas.microsoft.com/office/drawing/2014/main" id="{66B01B92-ACCB-1563-4BC0-AA1F01607FFD}"/>
              </a:ext>
            </a:extLst>
          </p:cNvPr>
          <p:cNvSpPr txBox="1">
            <a:spLocks noGrp="1"/>
          </p:cNvSpPr>
          <p:nvPr>
            <p:ph type="title"/>
          </p:nvPr>
        </p:nvSpPr>
        <p:spPr>
          <a:xfrm>
            <a:off x="256465" y="-1862"/>
            <a:ext cx="8520600" cy="572700"/>
          </a:xfrm>
          <a:prstGeom prst="rect">
            <a:avLst/>
          </a:prstGeom>
          <a:noFill/>
          <a:ln>
            <a:noFill/>
          </a:ln>
        </p:spPr>
        <p:txBody>
          <a:bodyPr spcFirstLastPara="1" wrap="square" lIns="91425" tIns="91425" rIns="91425" bIns="91425" anchor="t" anchorCtr="0">
            <a:noAutofit/>
          </a:bodyPr>
          <a:lstStyle/>
          <a:p>
            <a:r>
              <a:rPr lang="en">
                <a:solidFill>
                  <a:srgbClr val="000000"/>
                </a:solidFill>
              </a:rPr>
              <a:t>Final Test Cases</a:t>
            </a:r>
            <a:endParaRPr lang="en-US"/>
          </a:p>
        </p:txBody>
      </p:sp>
      <p:sp>
        <p:nvSpPr>
          <p:cNvPr id="4" name="Text Placeholder 3">
            <a:extLst>
              <a:ext uri="{FF2B5EF4-FFF2-40B4-BE49-F238E27FC236}">
                <a16:creationId xmlns:a16="http://schemas.microsoft.com/office/drawing/2014/main" id="{923AEAC3-9325-3CA0-D0AA-0BBC41B00B0A}"/>
              </a:ext>
            </a:extLst>
          </p:cNvPr>
          <p:cNvSpPr>
            <a:spLocks noGrp="1"/>
          </p:cNvSpPr>
          <p:nvPr>
            <p:ph type="body" idx="1"/>
          </p:nvPr>
        </p:nvSpPr>
        <p:spPr>
          <a:xfrm>
            <a:off x="256465" y="387522"/>
            <a:ext cx="8629800" cy="4515525"/>
          </a:xfrm>
        </p:spPr>
        <p:txBody>
          <a:bodyPr/>
          <a:lstStyle/>
          <a:p>
            <a:pPr marL="133350" indent="0">
              <a:buNone/>
            </a:pPr>
            <a:r>
              <a:rPr lang="en-US" sz="600" dirty="0">
                <a:latin typeface="Consolas"/>
              </a:rPr>
              <a:t>====================================================================================================
Test Case 1
====================================================================================================
Question:
Compare the total revenue and net income reported by Apple, Amazon, and Alphabet in their latest 10-Q filings. Which company grew fastest year-over-year?
Answer:
The retrieved context does not provide sufficient information to compare the total revenue and net income reported by Apple, Amazon, and Alphabet in their latest 10-Q filings. Specifically, the context lacks the necessary figures for Amazon's revenue and net income, as well as the year-over-year growth rates for all three companies.
To fully answer the broker's question, the following additional information is required:
1. Total revenue and net income figures for Amazon from its latest 10-Q filing.
2. Year-over-year growth rates for total revenue and net income for Apple, Amazon, and Alphabet.
Without this information, a comprehensive comparison cannot be made.
Approach used:
Baseline Prompt
Source files used:
sec_filings_10k.txt
====================================================================================================
Test Case 2
====================================================================================================
Question:
Based on this week's news sentiment around Amazon, would you classify the current signal as bullish or bearish, and does the price data support that?
Answer:
- Direct answer: The current sentiment around Amazon appears bullish, supported by recent price target increases from major analysts.
- Supporting evidence: Amazon (AMZN) received price target increases from BofA to $298 and KeyBanc to $325 ahead of its Q1 earnings report, with both </a:t>
            </a:r>
            <a:r>
              <a:rPr lang="en-US" sz="600" dirty="0" err="1">
                <a:latin typeface="Consolas"/>
              </a:rPr>
              <a:t>firms</a:t>
            </a:r>
            <a:r>
              <a:rPr lang="en-US" sz="600" dirty="0">
                <a:latin typeface="Consolas"/>
              </a:rPr>
              <a:t> forecasting AWS growth accelerating to 28-30% from Q4's 24% [Source 1: 24/7 Wall St., published on 2026-04-20].
- Actionable takeaway: Highlight to clients that the bullish sentiment from analysts and the anticipated growth in AWS could indicate positive momentum for Amazon's stock ahead of its earnings report.
Approach used:
Baseline Prompt
Source files used:
global_news.csv</a:t>
            </a:r>
          </a:p>
        </p:txBody>
      </p:sp>
    </p:spTree>
    <p:extLst>
      <p:ext uri="{BB962C8B-B14F-4D97-AF65-F5344CB8AC3E}">
        <p14:creationId xmlns:p14="http://schemas.microsoft.com/office/powerpoint/2010/main" val="3714839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2">
          <a:extLst>
            <a:ext uri="{FF2B5EF4-FFF2-40B4-BE49-F238E27FC236}">
              <a16:creationId xmlns:a16="http://schemas.microsoft.com/office/drawing/2014/main" id="{9880BA23-1AE9-694C-1B9E-8920D1C1DB7E}"/>
            </a:ext>
          </a:extLst>
        </p:cNvPr>
        <p:cNvGrpSpPr/>
        <p:nvPr/>
      </p:nvGrpSpPr>
      <p:grpSpPr>
        <a:xfrm>
          <a:off x="0" y="0"/>
          <a:ext cx="0" cy="0"/>
          <a:chOff x="0" y="0"/>
          <a:chExt cx="0" cy="0"/>
        </a:xfrm>
      </p:grpSpPr>
      <p:sp>
        <p:nvSpPr>
          <p:cNvPr id="400" name="Title 400">
            <a:extLst>
              <a:ext uri="{FF2B5EF4-FFF2-40B4-BE49-F238E27FC236}">
                <a16:creationId xmlns:a16="http://schemas.microsoft.com/office/drawing/2014/main" id="{FABE83A2-7451-84A3-EBCA-85A4660EAB1C}"/>
              </a:ext>
            </a:extLst>
          </p:cNvPr>
          <p:cNvSpPr txBox="1">
            <a:spLocks noGrp="1"/>
          </p:cNvSpPr>
          <p:nvPr>
            <p:ph type="title"/>
          </p:nvPr>
        </p:nvSpPr>
        <p:spPr>
          <a:xfrm>
            <a:off x="202550" y="62836"/>
            <a:ext cx="8520600" cy="572700"/>
          </a:xfrm>
          <a:prstGeom prst="rect">
            <a:avLst/>
          </a:prstGeom>
          <a:noFill/>
          <a:ln>
            <a:noFill/>
          </a:ln>
        </p:spPr>
        <p:txBody>
          <a:bodyPr spcFirstLastPara="1" wrap="square" lIns="91425" tIns="91425" rIns="91425" bIns="91425" anchor="t" anchorCtr="0">
            <a:noAutofit/>
          </a:bodyPr>
          <a:lstStyle/>
          <a:p>
            <a:r>
              <a:rPr lang="en">
                <a:solidFill>
                  <a:srgbClr val="000000"/>
                </a:solidFill>
              </a:rPr>
              <a:t>Final Test Cases</a:t>
            </a:r>
            <a:endParaRPr lang="en-US"/>
          </a:p>
        </p:txBody>
      </p:sp>
      <p:sp>
        <p:nvSpPr>
          <p:cNvPr id="4" name="Text Placeholder 3">
            <a:extLst>
              <a:ext uri="{FF2B5EF4-FFF2-40B4-BE49-F238E27FC236}">
                <a16:creationId xmlns:a16="http://schemas.microsoft.com/office/drawing/2014/main" id="{9CDE8C38-8E06-2D2F-6FED-F97359A1D5C7}"/>
              </a:ext>
            </a:extLst>
          </p:cNvPr>
          <p:cNvSpPr>
            <a:spLocks noGrp="1"/>
          </p:cNvSpPr>
          <p:nvPr>
            <p:ph type="body" idx="1"/>
          </p:nvPr>
        </p:nvSpPr>
        <p:spPr>
          <a:xfrm>
            <a:off x="143669" y="349781"/>
            <a:ext cx="8945628" cy="4797161"/>
          </a:xfrm>
        </p:spPr>
        <p:txBody>
          <a:bodyPr/>
          <a:lstStyle/>
          <a:p>
            <a:pPr marL="133350" indent="0">
              <a:buNone/>
            </a:pPr>
            <a:r>
              <a:rPr lang="en-US" sz="600" dirty="0">
                <a:latin typeface="Consolas"/>
              </a:rPr>
              <a:t>===================================================================================================
Test Case 3
====================================================================================================
Question:
Should I invest in Apple right now? I heard Tim Cook is stepping down — is that a red flag? How's the stock been doing, and is there anything I should be worried about with the company's financials or risks?
Answer:
- Direct answer to the question: Investing in Apple right now may be a consideration, but the transition of CEO Tim Cook could introduce some uncertainty. However, this change is also viewed as a potential strength for the company.
- Supporting evidence: Tim Cook's tenure has been highly profitable, with Apple's market cap increasing from $350 billion to $4 trillion during his leadership [Source 1, CNBC, 2026-04-21]. Following the announcement of his stepping down, Apple stock traded slightly down after-hours, indicating some market reaction to the news [Source 2, Yale.edu, 2026-04-21]. The new CEO, John Ternus, is expected to lead the company effectively, suggesting continuity in leadership despite the change [Source 4, DW (English), 2026-04-21].
- Actionable takeaway: Emphasize to the client that while the CEO transition may raise questions, it is also an opportunity for Apple to innovate under new leadership. Encourage them to consider the long-term growth potential of Apple, given its strong market position and historical performance.
Approach used:
Baseline Prompt
Source files used:
global_news.csv
====================================================================================================
Test Case 4
====================================================================================================
Question:
Is now a good time to buy Bitcoin? News is saying it just crossed $78k — am I too late? What's the price trend looked like over the last few months, and what's driving the current rally?
Answer:
- Direct answer to the question: The current price of Bitcoin is around $76,000, and while it has recently rebounded to near $78,000, there are mixed sentiments about the sustainability of this rally. 
- Supporting evidence: Bitcoin is trading around $76,000 at press time, with a recent rebound to near $78,000 driven by strong ETF inflows and declining exchange reserves [Source 1, </a:t>
            </a:r>
            <a:r>
              <a:rPr lang="en-US" sz="600" dirty="0" err="1">
                <a:latin typeface="Consolas"/>
              </a:rPr>
              <a:t>ZyCrypto</a:t>
            </a:r>
            <a:r>
              <a:rPr lang="en-US" sz="600" dirty="0">
                <a:latin typeface="Consolas"/>
              </a:rPr>
              <a:t>, 2026-04-21]. However, analysts warn that this price bounce may reflect easing panic rather than improving fundamentals, indicating potential fragility in the current rally [Source 4, Bitcoinfoundation.org, 2026-04-22]. Additionally, there is skepticism about whether the momentum will last, with some analysts suggesting that the surge above $78,000 should not be fully trusted [Source 3, </a:t>
            </a:r>
            <a:r>
              <a:rPr lang="en-US" sz="600" dirty="0" err="1">
                <a:latin typeface="Consolas"/>
              </a:rPr>
              <a:t>newsBTC</a:t>
            </a:r>
            <a:r>
              <a:rPr lang="en-US" sz="600" dirty="0">
                <a:latin typeface="Consolas"/>
              </a:rPr>
              <a:t>, 2026-04-20].
- Actionable takeaway: Inform the client that while Bitcoin has shown recent strength, caution is warranted due to mixed market signals and potential overhead resistance at $80,000. It may be prudent to monitor market conditions closely before making any buying decisions.
Approach used:
Baseline Prompt
Source files used:
global_news.csv
====================================================================================================
Test Case 5
====================================================================================================
Question:
I want to invest in AI. Out of Google, Amazon, and Apple, which one looks like the best bet right now? How are they performing, what are they saying about their AI business, and what's the buzz around them?
Answer:
- **Direct answer to the question:** Based on the retrieved context, Google (Alphabet Inc.) appears to be the most focused on AI development, positioning itself as an AI-first company since 2016. However, there is no specific performance data or buzz around Amazon and Apple in the context provided.
- **Supporting evidence:** Google has centralized its AI-related research and development, emphasizing its commitment to AI as a profound platform shift that can bring meaningful change. In 2023, Google introduced Gemini, a multimodal AI model, and in 2024, launched Gemini 2.0, which is described as their most capable model yet [Source 1, Source 4]. The context does not provide performance metrics or specific statements from Amazon or Apple regarding their AI businesses.
- **Actionable takeaway:** Highlight Google's strong commitment to AI innovation and its recent advancements with the Gemini models when discussing investment opportunities with the client. However, note that additional information on Amazon and Apple's AI strategies and performance would be necessary for a comprehensive comparison.
Approach used:
Baseline Prompt
Source files used:
global_news.csv, sec_filings_10k.txt
</a:t>
            </a:r>
            <a:endParaRPr lang="en-US" sz="600" dirty="0"/>
          </a:p>
          <a:p>
            <a:pPr>
              <a:lnSpc>
                <a:spcPct val="114999"/>
              </a:lnSpc>
            </a:pPr>
            <a:endParaRPr lang="en-US" sz="600" dirty="0"/>
          </a:p>
        </p:txBody>
      </p:sp>
    </p:spTree>
    <p:extLst>
      <p:ext uri="{BB962C8B-B14F-4D97-AF65-F5344CB8AC3E}">
        <p14:creationId xmlns:p14="http://schemas.microsoft.com/office/powerpoint/2010/main" val="5192061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8"/>
          <p:cNvSpPr txBox="1">
            <a:spLocks noGrp="1"/>
          </p:cNvSpPr>
          <p:nvPr>
            <p:ph type="ctrTitle"/>
          </p:nvPr>
        </p:nvSpPr>
        <p:spPr>
          <a:xfrm>
            <a:off x="0" y="2820425"/>
            <a:ext cx="9144000" cy="581700"/>
          </a:xfrm>
          <a:prstGeom prst="rect">
            <a:avLst/>
          </a:prstGeom>
          <a:solidFill>
            <a:srgbClr val="0000FF"/>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rPr>
              <a:t>APPENDIX</a:t>
            </a:r>
            <a:endParaRPr sz="3300">
              <a:solidFill>
                <a:schemeClr val="lt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Data Background and Contents</a:t>
            </a:r>
            <a:endParaRPr>
              <a:solidFill>
                <a:srgbClr val="000000"/>
              </a:solidFill>
            </a:endParaRPr>
          </a:p>
        </p:txBody>
      </p:sp>
      <p:sp>
        <p:nvSpPr>
          <p:cNvPr id="156" name="Google Shape;156;p9"/>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global_news.csv - financial news articles. Columns: title, description, content, source, url, published_at, query. Used for sentiment and event signals.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stock_price_details.csv - historical prices across equities, crypto, and forex. Columns: Date, ticker, name, Open, High, Low, Close, Volume. Used for trend and momentum context.</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sec_filings_10k.txt - UTF-8 10-K filing text (~8 MB). Chunked for retrieval of risk, governance, and financial-statement disclosures.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golden_benchmark_dataset.csv - 20 benchmark rows. Columns: question, response, source_hint, supporting_sources, context. Mapped to DeepEval Golden input / expected_output / context.</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All data is stored locally and retrieved through a Chroma vector store; every answer carries source metadata for verification and compliance.</a:t>
            </a:r>
            <a:endParaRPr sz="14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Model Building - Baseline</a:t>
            </a:r>
            <a:endParaRPr>
              <a:solidFill>
                <a:srgbClr val="000000"/>
              </a:solidFill>
            </a:endParaRPr>
          </a:p>
        </p:txBody>
      </p:sp>
      <p:sp>
        <p:nvSpPr>
          <p:cNvPr id="162" name="Google Shape;162;p1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Baseline RAG configuration (models and parameters):</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Embedding model: text-embedding-3-small. Answer model: gpt-4o-mini, temperature 0 (deterministic).</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Retrieval: Chroma similarity search, k = 4 chunks; filings chunked at size 1000 / overlap 150.</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Prompt: grounded financial-assistant system + user prompt that answers only from retrieved context and cites sources.</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dirty="0">
                <a:solidFill>
                  <a:schemeClr val="dk1"/>
                </a:solidFill>
              </a:rPr>
              <a:t>Evaluation: </a:t>
            </a:r>
            <a:r>
              <a:rPr lang="en" sz="1400" dirty="0" err="1">
                <a:solidFill>
                  <a:schemeClr val="dk1"/>
                </a:solidFill>
              </a:rPr>
              <a:t>DeepEval</a:t>
            </a:r>
            <a:r>
              <a:rPr lang="en" sz="1400" dirty="0">
                <a:solidFill>
                  <a:schemeClr val="dk1"/>
                </a:solidFill>
              </a:rPr>
              <a:t> GEval metrics (Relevance, Faithfulness, Completeness; threshold 0.7 each; evaluator gpt-4o-mini) on the 10 held-out test examples.</a:t>
            </a:r>
            <a:endParaRPr sz="1400" dirty="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Scores (to be filled from the notebook run):</a:t>
            </a:r>
            <a:endParaRPr sz="1400">
              <a:solidFill>
                <a:schemeClr val="dk1"/>
              </a:solidFill>
            </a:endParaRPr>
          </a:p>
          <a:p>
            <a:pPr marL="0" lvl="0" indent="0" algn="l" rtl="0">
              <a:lnSpc>
                <a:spcPct val="115000"/>
              </a:lnSpc>
              <a:spcBef>
                <a:spcPts val="800"/>
              </a:spcBef>
              <a:spcAft>
                <a:spcPts val="0"/>
              </a:spcAft>
              <a:buNone/>
            </a:pPr>
            <a:r>
              <a:rPr lang="en" sz="1200">
                <a:solidFill>
                  <a:schemeClr val="dk1"/>
                </a:solidFill>
              </a:rPr>
              <a:t>Relevance: </a:t>
            </a:r>
            <a:r>
              <a:rPr lang="en" sz="1200" u="sng">
                <a:solidFill>
                  <a:schemeClr val="dk1"/>
                </a:solidFill>
              </a:rPr>
              <a:t>0.597</a:t>
            </a:r>
            <a:r>
              <a:rPr lang="en" sz="1200">
                <a:solidFill>
                  <a:schemeClr val="dk1"/>
                </a:solidFill>
              </a:rPr>
              <a:t>    Faithfulness: </a:t>
            </a:r>
            <a:r>
              <a:rPr lang="en" sz="1200" u="sng">
                <a:solidFill>
                  <a:schemeClr val="dk1"/>
                </a:solidFill>
              </a:rPr>
              <a:t>0.892</a:t>
            </a:r>
            <a:r>
              <a:rPr lang="en" sz="1200">
                <a:solidFill>
                  <a:schemeClr val="dk1"/>
                </a:solidFill>
              </a:rPr>
              <a:t>    Completeness: </a:t>
            </a:r>
            <a:r>
              <a:rPr lang="en" sz="1200" u="sng">
                <a:solidFill>
                  <a:schemeClr val="dk1"/>
                </a:solidFill>
              </a:rPr>
              <a:t>0.881 </a:t>
            </a:r>
            <a:r>
              <a:rPr lang="en" sz="1200">
                <a:solidFill>
                  <a:schemeClr val="dk1"/>
                </a:solidFill>
              </a:rPr>
              <a:t>   Overall: </a:t>
            </a:r>
            <a:r>
              <a:rPr lang="en" sz="1200" u="sng">
                <a:solidFill>
                  <a:schemeClr val="dk1"/>
                </a:solidFill>
              </a:rPr>
              <a:t>0.79</a:t>
            </a:r>
            <a:endParaRPr sz="12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Model Improvement - Hyperparameter Tuning</a:t>
            </a:r>
            <a:endParaRPr>
              <a:solidFill>
                <a:srgbClr val="000000"/>
              </a:solidFill>
            </a:endParaRPr>
          </a:p>
        </p:txBody>
      </p:sp>
      <p:sp>
        <p:nvSpPr>
          <p:cNvPr id="168" name="Google Shape;168;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Two improvement levers are applied on top of the baseline:</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1) DeepEval GEPA prompt optimization - genetic-Pareto search mutates and evaluates prompt variants against the training goldens to produce an optimized answering prompt.</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2) RAG configuration tuning - three runtime configs vary k, temperature, top_p, and max_tokens (see Appendix for the full parameter table).</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Method and parameters tuned:</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GEPA: iterations 5, pareto_size 3, minibatch_size 5, random_seed 42, tie-breaker PREFER_CHILD; optimizer temperature 0.7 for exploration, answering temperature 0.</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Configs: Precision-Focused (k 3, temp 0.0), Balanced (k 4, temp 0.2), Context-Heavy (k 8, temp 0.4).</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Comment on tuned performance (to be filled from the run):</a:t>
            </a:r>
            <a:endParaRPr sz="1400">
              <a:solidFill>
                <a:schemeClr val="dk1"/>
              </a:solidFill>
            </a:endParaRPr>
          </a:p>
          <a:p>
            <a:pPr marL="0" lvl="0" indent="0" algn="l" rtl="0">
              <a:lnSpc>
                <a:spcPct val="115000"/>
              </a:lnSpc>
              <a:spcBef>
                <a:spcPts val="800"/>
              </a:spcBef>
              <a:spcAft>
                <a:spcPts val="0"/>
              </a:spcAft>
              <a:buNone/>
            </a:pPr>
            <a:r>
              <a:rPr lang="en" sz="1200" b="1" i="1">
                <a:solidFill>
                  <a:schemeClr val="dk1"/>
                </a:solidFill>
              </a:rPr>
              <a:t>[ SCREENSHOT PLACEHOLDER: Baseline-vs-GEPA table (Section 2.4) and three-config comparison table (Section 3.5); state which approach won and why ]</a:t>
            </a:r>
            <a:endParaRPr sz="12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Appendix: Final RAG Inference Results (5 Broker Questions)</a:t>
            </a:r>
            <a:endParaRPr>
              <a:solidFill>
                <a:srgbClr val="000000"/>
              </a:solidFill>
            </a:endParaRPr>
          </a:p>
        </p:txBody>
      </p:sp>
      <p:sp>
        <p:nvSpPr>
          <p:cNvPr id="174" name="Google Shape;174;p1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Final inference: the best approach (optimized prompt + best configuration) answers five realistic broker questions, each with a grounded answer and its retrieved source files.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Q1 - Compare Apple / Amazon / Alphabet revenue and net income; fastest YoY grower.</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Q2 - Amazon news sentiment this week (bullish or bearish) vs price data.</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Q3 - Should I invest in Apple now? leadership, stock trend, financial/risk concerns.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Q4 - Is it too late to buy Bitcoin at ~$78k? recent trend and drivers.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Q5 - Best AI bet among Google / Amazon / Apple? performance, AI commentary, buzz.</a:t>
            </a:r>
            <a:endParaRPr sz="1400">
              <a:solidFill>
                <a:schemeClr val="dk1"/>
              </a:solidFill>
            </a:endParaRPr>
          </a:p>
          <a:p>
            <a:pPr marL="0" lvl="0" indent="0" algn="l" rtl="0">
              <a:lnSpc>
                <a:spcPct val="115000"/>
              </a:lnSpc>
              <a:spcBef>
                <a:spcPts val="800"/>
              </a:spcBef>
              <a:spcAft>
                <a:spcPts val="0"/>
              </a:spcAft>
              <a:buNone/>
            </a:pPr>
            <a:endParaRPr sz="1400">
              <a:solidFill>
                <a:schemeClr val="dk1"/>
              </a:solidFill>
            </a:endParaRPr>
          </a:p>
          <a:p>
            <a:pPr marL="0" lvl="0" indent="0" algn="l" rtl="0">
              <a:lnSpc>
                <a:spcPct val="115000"/>
              </a:lnSpc>
              <a:spcBef>
                <a:spcPts val="800"/>
              </a:spcBef>
              <a:spcAft>
                <a:spcPts val="0"/>
              </a:spcAft>
              <a:buNone/>
            </a:pPr>
            <a:r>
              <a:rPr lang="en" sz="1200" b="1" i="1">
                <a:solidFill>
                  <a:schemeClr val="dk1"/>
                </a:solidFill>
              </a:rPr>
              <a:t>[ SCREENSHOT PLACEHOLDER: Final five answers from Section 4.3: for each, the question, grounded answer, approach used, and source files ]</a:t>
            </a:r>
            <a:endParaRPr sz="12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0" name="Title 41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Appendix: Evaluation Metric Definitions</a:t>
            </a:r>
            <a:endParaRPr>
              <a:solidFill>
                <a:srgbClr val="000000"/>
              </a:solidFill>
            </a:endParaRPr>
          </a:p>
        </p:txBody>
      </p:sp>
      <p:sp>
        <p:nvSpPr>
          <p:cNvPr id="411" name="Body 41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Relevance (GEval): does the answer correctly address the broker's question compared with the expected benchmark answer? Params: actual vs expected output. Threshold 0.7.</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Faithfulness (GEval): is every claim grounded in the retrieved context, with no fabricated numbers, filings, prices, or events? Params: actual output vs context. Threshold 0.7.</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Completeness (GEval): does the answer cover all parts of the question using the available context, including key figures and caveats? Params: input, actual output, context. Threshold 0.7.</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Overall score: the mean of the three metric means per approach; used to rank all five approaches.</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Evaluator model: gpt-4o-mini (GPTModel). Scoring is LLM-based and probabilistic, so values vary slightly across runs while rankings stay stable.</a:t>
            </a:r>
            <a:endParaRPr sz="14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0" name="Title 42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Appendix: RAG Configuration Parameters</a:t>
            </a:r>
            <a:endParaRPr>
              <a:solidFill>
                <a:srgbClr val="000000"/>
              </a:solidFill>
            </a:endParaRPr>
          </a:p>
        </p:txBody>
      </p:sp>
      <p:sp>
        <p:nvSpPr>
          <p:cNvPr id="421" name="Body 42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b="1">
                <a:solidFill>
                  <a:schemeClr val="dk1"/>
                </a:solidFill>
              </a:rPr>
              <a:t>Configurations tuned in Section 3 (representative values; confirm against your run):</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Config_1_Precision_Focused: k 3, temperature 0.0, top_p 0.8, max_tokens 400 - sharp, strictly grounded factual answers.</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Config_2_Balanced: k 4, temperature 0.2, top_p 0.9, max_tokens 700 - grounded and readable default for everyday questions.</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Config_3_Context_Heavy: k 8, temperature 0.4, top_p 0.95, max_tokens 1000 - broad, multi-part and cross-market questions.</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Shared settings: embedding text-embedding-3-small; answer and evaluator model gpt-4o-mini; filings chunk_size 1000 / overlap 150; Chroma collection 'financial_research'.</a:t>
            </a:r>
            <a:endParaRPr sz="1400">
              <a:solidFill>
                <a:schemeClr val="dk1"/>
              </a:solidFill>
            </a:endParaRPr>
          </a:p>
          <a:p>
            <a:pPr marL="914400" lvl="1" indent="-317500" algn="l" rtl="0">
              <a:lnSpc>
                <a:spcPct val="115000"/>
              </a:lnSpc>
              <a:spcBef>
                <a:spcPts val="800"/>
              </a:spcBef>
              <a:spcAft>
                <a:spcPts val="0"/>
              </a:spcAft>
              <a:buClr>
                <a:schemeClr val="dk1"/>
              </a:buClr>
              <a:buSzPts val="1400"/>
              <a:buChar char="●"/>
            </a:pPr>
            <a:r>
              <a:rPr lang="en" sz="1400">
                <a:solidFill>
                  <a:schemeClr val="dk1"/>
                </a:solidFill>
              </a:rPr>
              <a:t>GEPA optimizer: iterations 5, pareto_size 3, minibatch_size 5, random_seed 42, tie-breaker PREFER_CHILD; optimizer temperature 0.7.</a:t>
            </a:r>
            <a:endParaRPr sz="14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0" name="Title 43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rgbClr val="000000"/>
                </a:solidFill>
              </a:rPr>
              <a:t>Appendix: Assumptions and Notes</a:t>
            </a:r>
            <a:endParaRPr>
              <a:solidFill>
                <a:srgbClr val="000000"/>
              </a:solidFill>
            </a:endParaRPr>
          </a:p>
        </p:txBody>
      </p:sp>
      <p:sp>
        <p:nvSpPr>
          <p:cNvPr id="431" name="Body 43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800"/>
              </a:spcBef>
              <a:spcAft>
                <a:spcPts val="0"/>
              </a:spcAft>
              <a:buClr>
                <a:schemeClr val="dk1"/>
              </a:buClr>
              <a:buSzPts val="1400"/>
              <a:buChar char="●"/>
            </a:pPr>
            <a:r>
              <a:rPr lang="en" sz="1400">
                <a:solidFill>
                  <a:schemeClr val="dk1"/>
                </a:solidFill>
              </a:rPr>
              <a:t>The notebook runs in Google Colab with an OpenAI API key; datasets are uploaded alongside the notebook (DATA_DIR = current directory).</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The gold benchmark has exactly 20 examples, shuffled with seed 42 and split 10 train / 10 test for reproducibility.</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Result numbers on the result slides are placeholders by design; paste the actual metric values and tables from your Colab run before submission.</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gpt-4o-mini is chosen for both answering and evaluation for cost, latency, and consistency in this proof-of-concept; gpt-4o can be substituted for the evaluator if higher judgment quality is required.</a:t>
            </a:r>
            <a:endParaRPr sz="1400">
              <a:solidFill>
                <a:schemeClr val="dk1"/>
              </a:solidFill>
            </a:endParaRPr>
          </a:p>
          <a:p>
            <a:pPr marL="457200" lvl="0" indent="-317500" algn="l" rtl="0">
              <a:lnSpc>
                <a:spcPct val="115000"/>
              </a:lnSpc>
              <a:spcBef>
                <a:spcPts val="800"/>
              </a:spcBef>
              <a:spcAft>
                <a:spcPts val="0"/>
              </a:spcAft>
              <a:buClr>
                <a:schemeClr val="dk1"/>
              </a:buClr>
              <a:buSzPts val="1400"/>
              <a:buChar char="●"/>
            </a:pPr>
            <a:r>
              <a:rPr lang="en" sz="1400">
                <a:solidFill>
                  <a:schemeClr val="dk1"/>
                </a:solidFill>
              </a:rPr>
              <a:t>Some DeepEval 4.0.2 optimizer parameters use reasonable defaults; adjust if your installed build exposes different names or defaults.</a:t>
            </a:r>
            <a:endParaRPr sz="14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182" name="Google Shape;182;p1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19</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19</Slides>
  <Notes>13</Notes>
  <HiddenSlides>0</HiddenSlides>
  <ScaleCrop>false</ScaleCrop>
  <HeadingPairs>
    <vt:vector size="4" baseType="variant">
      <vt:variant>
        <vt:lpstr>Theme</vt:lpstr>
      </vt:variant>
      <vt:variant>
        <vt:i4>2</vt:i4>
      </vt:variant>
      <vt:variant>
        <vt:lpstr>Slide Titles</vt:lpstr>
      </vt:variant>
      <vt:variant>
        <vt:i4>19</vt:i4>
      </vt:variant>
    </vt:vector>
  </HeadingPairs>
  <TitlesOfParts>
    <vt:vector size="21" baseType="lpstr">
      <vt:lpstr>Just Logo</vt:lpstr>
      <vt:lpstr>Just Logo</vt:lpstr>
      <vt:lpstr>GlobalEdge Financial Intelligence Assistant: A RAG PoC</vt:lpstr>
      <vt:lpstr>Contents / Agenda</vt:lpstr>
      <vt:lpstr>Executive Summary </vt:lpstr>
      <vt:lpstr>Business Problem Overview and Solution Approach</vt:lpstr>
      <vt:lpstr>EDA Results</vt:lpstr>
      <vt:lpstr>Data Preprocessing </vt:lpstr>
      <vt:lpstr>Model Performance Summary and Final Model Selection</vt:lpstr>
      <vt:lpstr>Final Model Selection</vt:lpstr>
      <vt:lpstr>Final Test Cases</vt:lpstr>
      <vt:lpstr>Final Test Cases</vt:lpstr>
      <vt:lpstr>APPENDIX</vt:lpstr>
      <vt:lpstr>Data Background and Contents</vt:lpstr>
      <vt:lpstr>Model Building - Baseline</vt:lpstr>
      <vt:lpstr>Model Improvement - Hyperparameter Tuning</vt:lpstr>
      <vt:lpstr>Appendix: Final RAG Inference Results (5 Broker Questions)</vt:lpstr>
      <vt:lpstr>Appendix: Evaluation Metric Definitions</vt:lpstr>
      <vt:lpstr>Appendix: RAG Configuration Parameters</vt:lpstr>
      <vt:lpstr>Appendix: Assumptions and Notes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93</cp:revision>
  <dcterms:modified xsi:type="dcterms:W3CDTF">2026-10-25T19:05:14Z</dcterms:modified>
</cp:coreProperties>
</file>