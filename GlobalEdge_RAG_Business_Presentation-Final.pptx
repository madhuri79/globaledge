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300" r:id="rId10"/>
    <p:sldId id="304" r:id="rId11"/>
    <p:sldId id="305" r:id="rId12"/>
    <p:sldId id="263" r:id="rId13"/>
    <p:sldId id="264" r:id="rId14"/>
    <p:sldId id="265" r:id="rId15"/>
    <p:sldId id="266" r:id="rId16"/>
    <p:sldId id="267" r:id="rId17"/>
    <p:sldId id="301" r:id="rId18"/>
    <p:sldId id="302" r:id="rId19"/>
    <p:sldId id="303" r:id="rId20"/>
    <p:sldId id="268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Nunito" pitchFamily="2" charset="0"/>
      <p:regular r:id="rId27"/>
      <p:bold r:id="rId28"/>
      <p:italic r:id="rId29"/>
      <p:boldItalic r:id="rId30"/>
    </p:embeddedFont>
    <p:embeddedFont>
      <p:font typeface="Nunito ExtraBold" pitchFamily="2" charset="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CE567-A2BC-3DC7-A052-8CDB6631A039}" v="193" dt="2026-10-25T19:04:59.286"/>
  </p1510:revLst>
</p1510:revInfo>
</file>

<file path=ppt/tableStyles.xml><?xml version="1.0" encoding="utf-8"?>
<a:tblStyleLst xmlns:a="http://schemas.openxmlformats.org/drawingml/2006/main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customschemas.google.com/relationships/presentationmetadata" Target="metadata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8655225" cy="3435475"/>
        </p:xfrm>
        <a:graphic>
          <a:graphicData uri="http://schemas.openxmlformats.org/drawingml/2006/table">
            <a:tbl>
              <a:tblPr firstRow="1" bandRow="1">
                <a:noFill/>
                <a:tableStyleId>{C1FB5A6A-6A5D-45A8-83F2-B5AB23CB960B}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28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4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0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4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8655225" cy="3435475"/>
        </p:xfrm>
        <a:graphic>
          <a:graphicData uri="http://schemas.openxmlformats.org/drawingml/2006/table">
            <a:tbl>
              <a:tblPr firstRow="1" bandRow="1">
                <a:noFill/>
                <a:tableStyleId>{C1FB5A6A-6A5D-45A8-83F2-B5AB23CB960B}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" name="Google Shape;81;p3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2" name="Google Shape;92;p3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7" name="Google Shape;97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3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624248" y="983426"/>
            <a:ext cx="7887982" cy="1416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 err="1"/>
              <a:t>GlobalEdge</a:t>
            </a:r>
            <a:r>
              <a:rPr lang="en" sz="3600" dirty="0"/>
              <a:t> Financial Intelligence Assistant: A RAG </a:t>
            </a:r>
            <a:r>
              <a:rPr lang="en" sz="3600"/>
              <a:t>PoC</a:t>
            </a:r>
            <a:endParaRPr sz="3600"/>
          </a:p>
        </p:txBody>
      </p:sp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626618" y="2324325"/>
            <a:ext cx="6827700" cy="64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000" b="0"/>
              <a:t>(Low-Code Path) | Madhuri Sharma </a:t>
            </a:r>
          </a:p>
        </p:txBody>
      </p:sp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746934" y="2647372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1600" b="0"/>
              <a:t>25th Oct 2026</a:t>
            </a:r>
            <a:endParaRPr sz="16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202550" y="869494"/>
            <a:ext cx="8629800" cy="284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 err="1">
                <a:solidFill>
                  <a:schemeClr val="dk1"/>
                </a:solidFill>
              </a:rPr>
              <a:t>GlobalEdge</a:t>
            </a:r>
            <a:r>
              <a:rPr lang="en" sz="1400" dirty="0">
                <a:solidFill>
                  <a:schemeClr val="dk1"/>
                </a:solidFill>
              </a:rPr>
              <a:t> brokers lose signal every morning: too much news, price, and filing data to review before client calls, creating an intelligence and compliance gap.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 built a proof-of-concept Retrieval-Augmented Generation (RAG) assistant that lets brokers ask plain-English questions and get grounded, source-cited answers from news, prices, and SEC filings.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Answer quality was improved automatically with </a:t>
            </a:r>
            <a:r>
              <a:rPr lang="en" sz="1400" dirty="0" err="1">
                <a:solidFill>
                  <a:schemeClr val="dk1"/>
                </a:solidFill>
              </a:rPr>
              <a:t>DeepEval</a:t>
            </a:r>
            <a:r>
              <a:rPr lang="en" sz="1400" dirty="0">
                <a:solidFill>
                  <a:schemeClr val="dk1"/>
                </a:solidFill>
              </a:rPr>
              <a:t> GEPA prompt optimization and then tuned across three RAG configurations, measured on a 20-example gold benchmark.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Recommendation: deploy the optimized prompt with the best-performing configuration, keep a broker in the loop for advisory decisions, and use the benchmark as a release gate for future changes.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A59903-D856-6A53-4234-A23E7D9A7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2" y="3588670"/>
            <a:ext cx="4011530" cy="981576"/>
          </a:xfrm>
          <a:prstGeom prst="rect">
            <a:avLst/>
          </a:prstGeom>
        </p:spPr>
      </p:pic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21384EE8-6227-ABF8-8AEA-C19237366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006" y="3408020"/>
            <a:ext cx="4519362" cy="1387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Problem: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>
                <a:solidFill>
                  <a:schemeClr val="dk1"/>
                </a:solidFill>
              </a:rPr>
              <a:t>Brokers must review large volumes of overnight news, price moves, earnings, analyst commentary, and SEC filings in a short pre-market window.</a:t>
            </a: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>
                <a:solidFill>
                  <a:schemeClr val="dk1"/>
                </a:solidFill>
              </a:rPr>
              <a:t>They can only read a fraction, so important disclosures and signals are missed, and answers to clients rely on partial information or memory.</a:t>
            </a: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>
                <a:solidFill>
                  <a:schemeClr val="dk1"/>
                </a:solidFill>
              </a:rPr>
              <a:t>This raises compliance risk and erodes client trust when brokers cannot justify a recommendation with evidence.</a:t>
            </a:r>
            <a:endParaRPr sz="1000">
              <a:solidFill>
                <a:schemeClr val="dk1"/>
              </a:solidFill>
            </a:endParaRPr>
          </a:p>
          <a:p>
            <a:pPr indent="-317500">
              <a:spcBef>
                <a:spcPts val="800"/>
              </a:spcBef>
              <a:buClr>
                <a:schemeClr val="dk1"/>
              </a:buClr>
              <a:buSzPts val="1400"/>
            </a:pPr>
            <a:endParaRPr lang="en" sz="1400" b="1" dirty="0">
              <a:solidFill>
                <a:schemeClr val="dk1"/>
              </a:solidFill>
            </a:endParaRPr>
          </a:p>
          <a:p>
            <a:pPr marL="457200" lvl="0" indent="-317500" algn="l">
              <a:lnSpc>
                <a:spcPct val="114999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Solution approach / methodology: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 dirty="0">
                <a:solidFill>
                  <a:schemeClr val="dk1"/>
                </a:solidFill>
              </a:rPr>
              <a:t>Ingest three datasets (financial news, global prices, SEC 10-K filings) into </a:t>
            </a:r>
            <a:r>
              <a:rPr lang="en" sz="1000" dirty="0" err="1">
                <a:solidFill>
                  <a:schemeClr val="dk1"/>
                </a:solidFill>
              </a:rPr>
              <a:t>LangChain</a:t>
            </a:r>
            <a:r>
              <a:rPr lang="en" sz="1000" dirty="0">
                <a:solidFill>
                  <a:schemeClr val="dk1"/>
                </a:solidFill>
              </a:rPr>
              <a:t> documents with traceable metadata.</a:t>
            </a: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>
                <a:solidFill>
                  <a:schemeClr val="dk1"/>
                </a:solidFill>
              </a:rPr>
              <a:t>Chunk the filings, embed everything with text-embedding-3-small, and index into a local Chroma vector store for semantic retrieval.</a:t>
            </a: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>
                <a:solidFill>
                  <a:schemeClr val="dk1"/>
                </a:solidFill>
              </a:rPr>
              <a:t>Generate grounded answers with a GPT model constrained to the retrieved context, citing sources.</a:t>
            </a: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000" dirty="0">
                <a:solidFill>
                  <a:schemeClr val="dk1"/>
                </a:solidFill>
              </a:rPr>
              <a:t>Optimize the answering prompt with </a:t>
            </a:r>
            <a:r>
              <a:rPr lang="en" sz="1000" dirty="0" err="1">
                <a:solidFill>
                  <a:schemeClr val="dk1"/>
                </a:solidFill>
              </a:rPr>
              <a:t>DeepEval</a:t>
            </a:r>
            <a:r>
              <a:rPr lang="en" sz="1000" dirty="0">
                <a:solidFill>
                  <a:schemeClr val="dk1"/>
                </a:solidFill>
              </a:rPr>
              <a:t> GEPA and tune retrieval/generation configs, scored by relevance, faithfulness, and completeness metrics.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5"/>
          <p:cNvSpPr txBox="1">
            <a:spLocks noGrp="1"/>
          </p:cNvSpPr>
          <p:nvPr>
            <p:ph type="body" idx="1"/>
          </p:nvPr>
        </p:nvSpPr>
        <p:spPr>
          <a:xfrm>
            <a:off x="256465" y="653834"/>
            <a:ext cx="8629800" cy="2256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Global news (global_news.csv): article title, description, content, source, URL, publish date, and query across companies, markets, and macro events.</a:t>
            </a:r>
            <a:endParaRPr lang="en-US" sz="12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Stock prices (stock_price_details.csv): daily OHLC and volume across global equities, crypto, and forex, keyed by ticker, name, and date.</a:t>
            </a:r>
            <a:endParaRPr sz="12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SEC filings (sec_filings_10k.txt): large ~8 MB plain-text 10-K content (Apple, Alphabet, Tesla, Microsoft and others) with risk, governance, and financial disclosures.</a:t>
            </a:r>
            <a:endParaRPr sz="12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Gold benchmark (golden_benchmark_dataset.csv): 20 curated broker question / expected-answer / context examples used to evaluate every approach.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" name="Picture 2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CA98C2E4-70CA-F217-6A0F-AD4F5E827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20" y="2788876"/>
            <a:ext cx="7224623" cy="112474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FDDECE-6854-6D60-8045-E7B500BCE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40" y="3912179"/>
            <a:ext cx="6976613" cy="802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175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Duplicate / integrity check: each CSV row and the filings text are loaded once; column headers are detected dynamically so source and metadata fields map correctly.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Missing value handling: a flexible column resolver picks the first available source/metadata column, so missing optional fields do not break loading.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Feature engineering (document construction): each news and price row becomes one </a:t>
            </a:r>
            <a:r>
              <a:rPr lang="en" sz="1400" dirty="0" err="1">
                <a:solidFill>
                  <a:schemeClr val="dk1"/>
                </a:solidFill>
              </a:rPr>
              <a:t>LangChain</a:t>
            </a:r>
            <a:r>
              <a:rPr lang="en" sz="1400" dirty="0">
                <a:solidFill>
                  <a:schemeClr val="dk1"/>
                </a:solidFill>
              </a:rPr>
              <a:t> Document; dataset-level metadata (</a:t>
            </a:r>
            <a:r>
              <a:rPr lang="en" sz="1400" dirty="0" err="1">
                <a:solidFill>
                  <a:schemeClr val="dk1"/>
                </a:solidFill>
              </a:rPr>
              <a:t>source_file</a:t>
            </a:r>
            <a:r>
              <a:rPr lang="en" sz="1400" dirty="0">
                <a:solidFill>
                  <a:schemeClr val="dk1"/>
                </a:solidFill>
              </a:rPr>
              <a:t>, </a:t>
            </a:r>
            <a:r>
              <a:rPr lang="en" sz="1400" dirty="0" err="1">
                <a:solidFill>
                  <a:schemeClr val="dk1"/>
                </a:solidFill>
              </a:rPr>
              <a:t>source_type</a:t>
            </a:r>
            <a:r>
              <a:rPr lang="en" sz="1400" dirty="0">
                <a:solidFill>
                  <a:schemeClr val="dk1"/>
                </a:solidFill>
              </a:rPr>
              <a:t>) is attached for traceability.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Filing chunking: SEC text is split with </a:t>
            </a:r>
            <a:r>
              <a:rPr lang="en" sz="1400" dirty="0" err="1">
                <a:solidFill>
                  <a:schemeClr val="dk1"/>
                </a:solidFill>
              </a:rPr>
              <a:t>RecursiveCharacterTextSplitter</a:t>
            </a:r>
            <a:r>
              <a:rPr lang="en" sz="1400" dirty="0">
                <a:solidFill>
                  <a:schemeClr val="dk1"/>
                </a:solidFill>
              </a:rPr>
              <a:t> (</a:t>
            </a:r>
            <a:r>
              <a:rPr lang="en" sz="1400" dirty="0" err="1">
                <a:solidFill>
                  <a:schemeClr val="dk1"/>
                </a:solidFill>
              </a:rPr>
              <a:t>chunk_size</a:t>
            </a:r>
            <a:r>
              <a:rPr lang="en" sz="1400" dirty="0">
                <a:solidFill>
                  <a:schemeClr val="dk1"/>
                </a:solidFill>
              </a:rPr>
              <a:t> 1000, </a:t>
            </a:r>
            <a:r>
              <a:rPr lang="en" sz="1400" dirty="0" err="1">
                <a:solidFill>
                  <a:schemeClr val="dk1"/>
                </a:solidFill>
              </a:rPr>
              <a:t>chunk_overlap</a:t>
            </a:r>
            <a:r>
              <a:rPr lang="en" sz="1400" dirty="0">
                <a:solidFill>
                  <a:schemeClr val="dk1"/>
                </a:solidFill>
              </a:rPr>
              <a:t> 150) to preserve context continuity for retrieval.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preparation for modeling: all documents are embedded (text-embedding-3-small) and indexed into Chroma; the 20 gold examples are shuffled (seed 42) and split 10 train / 10 test.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73D7ED9-DECA-08A5-D44A-C3A66D1B0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545" y="3819273"/>
            <a:ext cx="3803483" cy="1324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 and Final Model Selection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202550" y="869494"/>
            <a:ext cx="8629800" cy="2428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Five approaches are compared on the held-out test set: Baseline Prompt, GEPA-Optimized Prompt, and three tuned RAG configurations (Precision-Focused, Balanced, Context-Heavy).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Each is scored on three </a:t>
            </a:r>
            <a:r>
              <a:rPr lang="en" sz="1400" dirty="0" err="1">
                <a:solidFill>
                  <a:schemeClr val="dk1"/>
                </a:solidFill>
              </a:rPr>
              <a:t>DeepEval</a:t>
            </a:r>
            <a:r>
              <a:rPr lang="en" sz="1400" dirty="0">
                <a:solidFill>
                  <a:schemeClr val="dk1"/>
                </a:solidFill>
              </a:rPr>
              <a:t> GEval metrics - Relevance, Faithfulness, Completeness - plus an overall mean score.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GEPA prompt optimization is expected to lift the metrics over the manual baseline prompt; configuration tuning then trades grounding precision against breadth of context.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best overall approach is selected automatically as the highest overall-score row in the comparison table (see next slide for the final-model treatment).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" name="Picture 1" descr="A screenshot of a test&#10;&#10;AI-generated content may be incorrect.">
            <a:extLst>
              <a:ext uri="{FF2B5EF4-FFF2-40B4-BE49-F238E27FC236}">
                <a16:creationId xmlns:a16="http://schemas.microsoft.com/office/drawing/2014/main" id="{0A3ADCF1-10CC-56F6-6741-4B86F439F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697" y="3242585"/>
            <a:ext cx="5015666" cy="1621106"/>
          </a:xfrm>
          <a:prstGeom prst="rect">
            <a:avLst/>
          </a:prstGeom>
        </p:spPr>
      </p:pic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3389376F-B249-D962-03AD-C23FB3757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3" y="3547560"/>
            <a:ext cx="3210928" cy="732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40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Final Model Selection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1" name="Body 401"/>
          <p:cNvSpPr txBox="1">
            <a:spLocks noGrp="1"/>
          </p:cNvSpPr>
          <p:nvPr>
            <p:ph type="body" idx="1"/>
          </p:nvPr>
        </p:nvSpPr>
        <p:spPr>
          <a:xfrm>
            <a:off x="202550" y="869494"/>
            <a:ext cx="8629800" cy="299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Selection rule: the approach with the highest overall </a:t>
            </a:r>
            <a:r>
              <a:rPr lang="en" sz="1100" dirty="0" err="1">
                <a:solidFill>
                  <a:schemeClr val="dk1"/>
                </a:solidFill>
              </a:rPr>
              <a:t>DeepEval</a:t>
            </a:r>
            <a:r>
              <a:rPr lang="en" sz="1100" dirty="0">
                <a:solidFill>
                  <a:schemeClr val="dk1"/>
                </a:solidFill>
              </a:rPr>
              <a:t> score across Relevance, Faithfulness, and Completeness on the test set is chosen automatically (Section 3.6).</a:t>
            </a:r>
            <a:endParaRPr lang="en-US" sz="11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Final model: the Baseline Prompt (k=4, temperature 0, gpt-4o-mini) was the actual winner on the test set; its exact k / temperature / </a:t>
            </a:r>
            <a:r>
              <a:rPr lang="en" sz="1100" dirty="0" err="1">
                <a:solidFill>
                  <a:schemeClr val="dk1"/>
                </a:solidFill>
              </a:rPr>
              <a:t>top_p</a:t>
            </a:r>
            <a:r>
              <a:rPr lang="en" sz="1100" dirty="0">
                <a:solidFill>
                  <a:schemeClr val="dk1"/>
                </a:solidFill>
              </a:rPr>
              <a:t> / </a:t>
            </a:r>
            <a:r>
              <a:rPr lang="en" sz="1100" dirty="0" err="1">
                <a:solidFill>
                  <a:schemeClr val="dk1"/>
                </a:solidFill>
              </a:rPr>
              <a:t>max_tokens</a:t>
            </a:r>
            <a:r>
              <a:rPr lang="en" sz="1100" dirty="0">
                <a:solidFill>
                  <a:schemeClr val="dk1"/>
                </a:solidFill>
              </a:rPr>
              <a:t> are the baseline settings above.</a:t>
            </a:r>
            <a:endParaRPr sz="11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100" i="1" dirty="0">
                <a:solidFill>
                  <a:schemeClr val="dk1"/>
                </a:solidFill>
              </a:rPr>
              <a:t>For reference, the tuned configs (not selected) were: Balanced - k 4, temperature 0.2, </a:t>
            </a:r>
            <a:r>
              <a:rPr lang="en" sz="1100" i="1" dirty="0" err="1">
                <a:solidFill>
                  <a:schemeClr val="dk1"/>
                </a:solidFill>
              </a:rPr>
              <a:t>top_p</a:t>
            </a:r>
            <a:r>
              <a:rPr lang="en" sz="1100" i="1" dirty="0">
                <a:solidFill>
                  <a:schemeClr val="dk1"/>
                </a:solidFill>
              </a:rPr>
              <a:t> 0.9, </a:t>
            </a:r>
            <a:r>
              <a:rPr lang="en" sz="1100" i="1" dirty="0" err="1">
                <a:solidFill>
                  <a:schemeClr val="dk1"/>
                </a:solidFill>
              </a:rPr>
              <a:t>max_tokens</a:t>
            </a:r>
            <a:r>
              <a:rPr lang="en" sz="1100" i="1" dirty="0">
                <a:solidFill>
                  <a:schemeClr val="dk1"/>
                </a:solidFill>
              </a:rPr>
              <a:t> 700; Precision-Focused and Context-Heavy varied k and temperature, but none beat the Baseline Prompt.</a:t>
            </a:r>
            <a:endParaRPr sz="11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Most important factors driving quality: retrieval depth (k) mainly affects completeness; temperature and </a:t>
            </a:r>
            <a:r>
              <a:rPr lang="en" sz="1100" dirty="0" err="1">
                <a:solidFill>
                  <a:schemeClr val="dk1"/>
                </a:solidFill>
              </a:rPr>
              <a:t>top_p</a:t>
            </a:r>
            <a:r>
              <a:rPr lang="en" sz="1100" dirty="0">
                <a:solidFill>
                  <a:schemeClr val="dk1"/>
                </a:solidFill>
              </a:rPr>
              <a:t> affect faithfulness and wording; the optimized prompt enforces grounding and citations.</a:t>
            </a:r>
            <a:endParaRPr sz="11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100">
                <a:solidFill>
                  <a:schemeClr val="dk1"/>
                </a:solidFill>
              </a:rPr>
              <a:t>Comment on final performance: the Baseline Prompt was selected as the best approach with the highest overall DeepEval score of 0.790 (Relevance 0.597, Faithfulness 0.892, Completeness 0.881) on the 10-example test set. The GEPA-optimized prompt (0.769) and the three tuned configurations (Context-Heavy 0.773, Balanced 0.769, Precision-Focused 0.745) did not beat it; differences are small and within run-to-run variation on a 10-example test set, and the baseline's grounded, citation-enforcing prompt was already strong. Final model: Baseline Prompt - gpt-4o-mini, temperature 0, k=4 retrieved chunks.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48DD13-BECA-27A3-55B7-1B2278675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494" y="3225717"/>
            <a:ext cx="3614487" cy="16999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035DFCE1-B615-6D75-4FB2-5189D623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400">
            <a:extLst>
              <a:ext uri="{FF2B5EF4-FFF2-40B4-BE49-F238E27FC236}">
                <a16:creationId xmlns:a16="http://schemas.microsoft.com/office/drawing/2014/main" id="{66B01B92-ACCB-1563-4BC0-AA1F01607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465" y="-186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</a:rPr>
              <a:t>Final Test Cases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AEAC3-9325-3CA0-D0AA-0BBC41B00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465" y="387522"/>
            <a:ext cx="8629800" cy="45155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900" dirty="0"/>
              <a:t>Five realistic broker questions answered by the selected best approach (Baseline Prompt), each grounded in retrieved context with cited sources. Questions 1-3 below; 4-5 continue on the next slide.</a:t>
            </a:r>
            <a:endParaRPr lang="en-US" sz="9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/>
              <a:t>Q1: Compare Apple, Amazon, Alphabet revenue and net income (latest 10-Q); fastest YoY grower?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1" dirty="0"/>
              <a:t>A: </a:t>
            </a:r>
            <a:r>
              <a:rPr lang="en-US" sz="1000" dirty="0"/>
              <a:t>The retrieved context is insufficient for a full comparison: it lacks Amazon’s revenue/net income figures and YoY growth rates for all three. Those figures would be needed to answer completely.</a:t>
            </a:r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900" dirty="0"/>
              <a:t>Approach: Baseline Prompt   |   Sources: sec_filings_10k.txt</a:t>
            </a:r>
            <a:endParaRPr lang="en-US" sz="9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/>
              <a:t>Q2: Amazon news sentiment this week – bullish or bearish, and does price data support it?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1" dirty="0"/>
              <a:t>A: </a:t>
            </a:r>
            <a:r>
              <a:rPr lang="en-US" sz="1000" dirty="0"/>
              <a:t>Bullish. Amazon (AMZN) drew price-target raises from BofA to $298 and KeyBanc to $325 ahead of Q1 earnings, both expecting AWS growth to accelerate to 28-30% from Q4’s 24% [Source 1: 24/7 Wall St., 2026-04-20]. Analyst optimism and expected AWS growth point to positive momentum.</a:t>
            </a:r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900" dirty="0"/>
              <a:t>Approach: Baseline Prompt   |   Sources: global_news.csv</a:t>
            </a:r>
            <a:endParaRPr lang="en-US" sz="9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/>
              <a:t>Q3: Should I invest in Apple now? Is Tim Cook stepping down a red flag? Stock, financials, risks?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1" dirty="0"/>
              <a:t>A: </a:t>
            </a:r>
            <a:r>
              <a:rPr lang="en-US" sz="1000" dirty="0"/>
              <a:t>A possible consideration; the CEO transition adds uncertainty but is also seen as a strength. Cook’s tenure grew market cap from $350B to $4T [Source 1, CNBC, 2026-04-21]; stock traded slightly down after-hours on the news [Source 2, Yale.edu, 2026-04-21]; incoming CEO John Ternus is expected to provide continuity [Source 4, DW, 2026-04-21]. Weigh the transition against Apple’s long-term growth.</a:t>
            </a:r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900" dirty="0"/>
              <a:t>Approach: Baseline Prompt   |   Sources: global_news.csv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1483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9880BA23-1AE9-694C-1B9E-8920D1C1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400">
            <a:extLst>
              <a:ext uri="{FF2B5EF4-FFF2-40B4-BE49-F238E27FC236}">
                <a16:creationId xmlns:a16="http://schemas.microsoft.com/office/drawing/2014/main" id="{FABE83A2-7451-84A3-EBCA-85A4660EA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28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00"/>
                </a:solidFill>
              </a:rPr>
              <a:t>Final Test Cases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E8C38-8E06-2D2F-6FED-F97359A1D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669" y="349781"/>
            <a:ext cx="8945628" cy="479716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900" dirty="0"/>
              <a:t>Final Test Cases (continued) – Questions 4 and 5, answered with the Baseline Prompt.</a:t>
            </a:r>
            <a:endParaRPr lang="en-US" sz="9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/>
              <a:t>Q4: Too late to buy Bitcoin at ~$78k? Recent trend and drivers?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1" dirty="0"/>
              <a:t>A: </a:t>
            </a:r>
            <a:r>
              <a:rPr lang="en-US" sz="1000" dirty="0"/>
              <a:t>BTC ~ $76,000 at press time, recently rebounded toward $78,000 on strong ETF inflows and falling exchange reserves [Source 1, ZyCrypto, 2026-04-21]. Analysts caution the bounce may reflect easing panic rather than improving fundamentals [Source 4, Bitcoinfoundation.org, 2026-04-22], and are skeptical the surge above $78k will hold [Source 3, newsBTC, 2026-04-20]. Caution warranted near $80k resistance; monitor before buying.</a:t>
            </a:r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900" dirty="0"/>
              <a:t>Approach: Baseline Prompt   |   Sources: global_news.csv</a:t>
            </a:r>
            <a:endParaRPr lang="en-US" sz="9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100" b="1" dirty="0"/>
              <a:t>Q5: Best AI bet among Google, Amazon, Apple?</a:t>
            </a: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1" dirty="0"/>
              <a:t>A: </a:t>
            </a:r>
            <a:r>
              <a:rPr lang="en-US" sz="1000" dirty="0"/>
              <a:t>From the context, Google (Alphabet) looks most AI-focused (AI-first since 2016), with centralized AI R&amp;D and the Gemini (2023) and Gemini 2.0 (2024) models [Source 1, Source 4]. Little specific data on Amazon or Apple AI, so a full comparison needs more information. Highlight Google’s AI commitment.</a:t>
            </a:r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900" dirty="0"/>
              <a:t>Approach: Baseline Prompt   |   Sources: global_news.csv, sec_filings_10k.txt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19206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9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global_news.csv - financial news articles. Columns: title, description, content, source, url, published_at, query. Used for sentiment and event signals.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stock_price_details.csv - historical prices across equities, crypto, and forex. Columns: Date, ticker, name, Open, High, Low, Close, Volume. Used for trend and momentum context.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sec_filings_10k.txt - UTF-8 10-K filing text (~8 MB). Chunked for retrieval of risk, governance, and financial-statement disclosures.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golden_benchmark_dataset.csv - 20 benchmark rows. Columns: question, response, source_hint, supporting_sources, context. Mapped to DeepEval Golden input / expected_output / context.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All data is stored locally and retrieved through a Chroma vector store; every answer carries source metadata for verification and compliance.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 - Baseline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10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Baseline RAG configuration (models and parameters):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Embedding model: text-embedding-3-small. Answer model: gpt-4o-mini, temperature 0 (deterministic).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Retrieval: Chroma similarity search, k = 4 chunks; filings chunked at size 1000 / overlap 150.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Prompt: grounded financial-assistant system + user prompt that answers only from retrieved context and cites sources.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Evaluation: </a:t>
            </a:r>
            <a:r>
              <a:rPr lang="en" sz="1400" dirty="0" err="1">
                <a:solidFill>
                  <a:schemeClr val="dk1"/>
                </a:solidFill>
              </a:rPr>
              <a:t>DeepEval</a:t>
            </a:r>
            <a:r>
              <a:rPr lang="en" sz="1400" dirty="0">
                <a:solidFill>
                  <a:schemeClr val="dk1"/>
                </a:solidFill>
              </a:rPr>
              <a:t> GEval metrics (Relevance, Faithfulness, Completeness; threshold 0.7 each; evaluator gpt-4o-mini) on the 10 held-out test examples.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Scores (held-out 10-example test set):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Relevance: </a:t>
            </a:r>
            <a:r>
              <a:rPr lang="en" sz="1200" u="sng">
                <a:solidFill>
                  <a:schemeClr val="dk1"/>
                </a:solidFill>
              </a:rPr>
              <a:t>0.597</a:t>
            </a:r>
            <a:r>
              <a:rPr lang="en" sz="1200">
                <a:solidFill>
                  <a:schemeClr val="dk1"/>
                </a:solidFill>
              </a:rPr>
              <a:t>    Faithfulness: </a:t>
            </a:r>
            <a:r>
              <a:rPr lang="en" sz="1200" u="sng">
                <a:solidFill>
                  <a:schemeClr val="dk1"/>
                </a:solidFill>
              </a:rPr>
              <a:t>0.892</a:t>
            </a:r>
            <a:r>
              <a:rPr lang="en" sz="1200">
                <a:solidFill>
                  <a:schemeClr val="dk1"/>
                </a:solidFill>
              </a:rPr>
              <a:t>    Completeness: </a:t>
            </a:r>
            <a:r>
              <a:rPr lang="en" sz="1200" u="sng">
                <a:solidFill>
                  <a:schemeClr val="dk1"/>
                </a:solidFill>
              </a:rPr>
              <a:t>0.881 </a:t>
            </a:r>
            <a:r>
              <a:rPr lang="en" sz="1200">
                <a:solidFill>
                  <a:schemeClr val="dk1"/>
                </a:solidFill>
              </a:rPr>
              <a:t>   Overall: </a:t>
            </a:r>
            <a:r>
              <a:rPr lang="en" sz="1200" u="sng">
                <a:solidFill>
                  <a:schemeClr val="dk1"/>
                </a:solidFill>
              </a:rPr>
              <a:t>0.790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8" name="Google Shape;168;p1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Two improvement levers are applied on top of the baseline: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1) DeepEval GEPA prompt optimization - genetic-Pareto search mutates and evaluates prompt variants against the training goldens to produce an optimized answering prompt.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2) RAG configuration tuning - three runtime configs vary k, temperature, top_p, and max_tokens (see Appendix for the full parameter table).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Method and parameters tuned: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GEPA: iterations 2, pareto_size 2, minibatch_size 2, random_seed 42, tie-breaker PREFER_CHILD; optimizer temperature 0.7 for exploration, answering temperature 0.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Configs: Precision-Focused (k 3, temp 0.0), Balanced (k 4, temp 0.2), Context-Heavy (k 8, temp 0.4).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Comment on tuned performance (10-example test set):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Result: on the 10-example test set the Baseline Prompt scored highest overall (0.790). GEPA optimization (0.769) and configuration tuning (Context-Heavy 0.773, Balanced 0.769, Precision-Focused 0.745) did not improve on it. Likely reasons: the baseline grounding/citation prompt was already strong; GEPA ran a reduced genetic search (2 iterations) to stay within the API rate limit; and on only 10 test examples, gaps of ~0.02 are within scoring noise. Faithfulness stayed high (0.87-0.89) across all approaches, confirming answers remained well grounded.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Final RAG Inference Results (5 Broker Questions)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4" name="Google Shape;174;p14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Final inference: the selected best approach (Baseline Prompt) answers five realistic broker questions, each with a grounded answer and its retrieved source files.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Q1 - Compare Apple / Amazon / Alphabet revenue and net income; fastest YoY grower.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Q2 - Amazon news sentiment this week (bullish or bearish) vs price data.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Q3 - Should I invest in Apple now? leadership, stock trend, financial/risk concerns.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Q4 - Is it too late to buy Bitcoin at ~$78k? recent trend and drivers.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Q5 - Best AI bet among Google / Amazon / Apple? performance, AI commentary, buzz.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Full answers with grounded evidence and cited sources are summarized on the Final Test Cases slides; every answer was produced by the Baseline Prompt (the selected best approach) and carries source-file attributions (global_news.csv, stock_price_details.csv, sec_filings_10k.txt).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41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Evaluation Metric Definitions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1" name="Body 41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Relevance (GEval): does the answer correctly address the broker's question compared with the expected benchmark answer? Params: actual vs expected output. Threshold 0.7.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Faithfulness (GEval): is every claim grounded in the retrieved context, with no fabricated numbers, filings, prices, or events? Params: actual output vs context. Threshold 0.7.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Completeness (GEval): does the answer cover all parts of the question using the available context, including key figures and caveats? Params: input, actual output, context. Threshold 0.7.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Overall score: the mean of the three metric means per approach; used to rank all five approaches.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Evaluator model: gpt-4o-mini (GPTModel). Scoring is LLM-based and probabilistic, so values vary slightly across runs while rankings stay stable.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itle 42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RAG Configuration Parameters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1" name="Body 42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Configurations tuned in Section 3: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Config_1_Precision_Focused: k 3, temperature 0.0, top_p 0.8, max_tokens 400 - sharp, strictly grounded factual answers.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Config_2_Balanced: k 4, temperature 0.2, top_p 0.9, max_tokens 700 - grounded and readable default for everyday questions.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Config_3_Context_Heavy: k 8, temperature 0.4, top_p 0.95, max_tokens 1000 - broad, multi-part and cross-market questions.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Shared settings: embedding text-embedding-3-small; answer and evaluator model gpt-4o-mini; filings chunk_size 1000 / overlap 150; Chroma collection 'financial_research'.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GEPA optimizer: iterations 2, pareto_size 2, minibatch_size 2, random_seed 42, tie-breaker PREFER_CHILD; optimizer temperature 0.7.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430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Assumptions and Notes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1" name="Body 431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notebook runs in Google Colab with an OpenAI API key; datasets are uploaded alongside the notebook (DATA_DIR = current directory).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gold benchmark has exactly 20 examples, shuffled with seed 42 and split 10 train / 10 test for reproducibility.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Result numbers reflect an actual Colab run (10-example held-out test set); LLM-based scoring is probabilistic so values vary slightly between runs.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gpt-4o-mini is chosen for both answering and evaluation for cost, latency, and consistency in this proof-of-concept; gpt-4o can be substituted for the evaluator if higher judgment quality is required.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Some DeepEval 4.0.2 optimizer parameters use reasonable defaults; adjust if your installed build exposes different names or defaults.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Just Logo</vt:lpstr>
      <vt:lpstr>Just Logo</vt:lpstr>
      <vt:lpstr>GlobalEdge Financial Intelligence Assistant: A RAG PoC</vt:lpstr>
      <vt:lpstr>Contents / Agenda</vt:lpstr>
      <vt:lpstr>Executive Summary </vt:lpstr>
      <vt:lpstr>Business Problem Overview and Solution Approach</vt:lpstr>
      <vt:lpstr>EDA Results</vt:lpstr>
      <vt:lpstr>Data Preprocessing </vt:lpstr>
      <vt:lpstr>Model Performance Summary and Final Model Selection</vt:lpstr>
      <vt:lpstr>Final Model Selection</vt:lpstr>
      <vt:lpstr>Final Test Cases</vt:lpstr>
      <vt:lpstr>Final Test Cases</vt:lpstr>
      <vt:lpstr>APPENDIX</vt:lpstr>
      <vt:lpstr>Data Background and Contents</vt:lpstr>
      <vt:lpstr>Model Building - Baseline</vt:lpstr>
      <vt:lpstr>Model Improvement - Hyperparameter Tuning</vt:lpstr>
      <vt:lpstr>Appendix: Final RAG Inference Results (5 Broker Questions)</vt:lpstr>
      <vt:lpstr>Appendix: Evaluation Metric Definitions</vt:lpstr>
      <vt:lpstr>Appendix: RAG Configuration Parameters</vt:lpstr>
      <vt:lpstr>Appendix: Assumptions and Notes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93</cp:revision>
  <dcterms:modified xsi:type="dcterms:W3CDTF">2026-10-25T19:05:14Z</dcterms:modified>
</cp:coreProperties>
</file>