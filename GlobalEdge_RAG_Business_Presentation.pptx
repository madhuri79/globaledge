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300" r:id="rId40"/>
    <p:sldId id="263" r:id="rId15"/>
    <p:sldId id="264" r:id="rId16"/>
    <p:sldId id="265" r:id="rId17"/>
    <p:sldId id="266" r:id="rId18"/>
    <p:sldId id="267" r:id="rId19"/>
    <p:sldId id="301" r:id="rId41"/>
    <p:sldId id="302" r:id="rId42"/>
    <p:sldId id="303" r:id="rId43"/>
    <p:sldId id="268" r:id="rId20"/>
  </p:sldIdLst>
  <p:sldSz cy="5143500" cx="9144000"/>
  <p:notesSz cx="6858000" cy="9144000"/>
  <p:embeddedFontLst>
    <p:embeddedFont>
      <p:font typeface="Nunito SemiBold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Nunito ExtraBold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1" roundtripDataSignature="AMtx7mir1CuVc7P9GSjuQoiIFJRDez2n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FB5A6A-6A5D-45A8-83F2-B5AB23CB960B}">
  <a:tblStyle styleId="{C1FB5A6A-6A5D-45A8-83F2-B5AB23CB960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NunitoSemiBold-bold.fntdata"/><Relationship Id="rId21" Type="http://schemas.openxmlformats.org/officeDocument/2006/relationships/font" Target="fonts/NunitoSemiBold-regular.fntdata"/><Relationship Id="rId24" Type="http://schemas.openxmlformats.org/officeDocument/2006/relationships/font" Target="fonts/NunitoSemiBold-boldItalic.fntdata"/><Relationship Id="rId23" Type="http://schemas.openxmlformats.org/officeDocument/2006/relationships/font" Target="fonts/NunitoSemiBold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NunitoExtraBold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customschemas.google.com/relationships/presentationmetadata" Target="metadata"/><Relationship Id="rId30" Type="http://schemas.openxmlformats.org/officeDocument/2006/relationships/font" Target="fonts/NunitoExtraBold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43" Type="http://schemas.openxmlformats.org/officeDocument/2006/relationships/slide" Target="slides/slide1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" name="Google Shape;16;p17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2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22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{C1FB5A6A-6A5D-45A8-83F2-B5AB23CB960B}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2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8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28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8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28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0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64" name="Google Shape;64;p20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0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0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67" name="Google Shape;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0" name="Google Shape;70;p29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80" name="Google Shape;80;p32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{C1FB5A6A-6A5D-45A8-83F2-B5AB23CB960B}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81" name="Google Shape;81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4" name="Google Shape;84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9" name="Google Shape;89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2" name="Google Shape;92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6" name="Google Shape;96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7" name="Google Shape;97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98" name="Google Shape;98;p3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6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6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6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6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55" name="Google Shape;55;p19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6" name="Google Shape;56;p19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9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60" name="Google Shape;60;p19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9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p14:dur="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9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1158150" y="1412050"/>
            <a:ext cx="6827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/>
              <a:t>GlobalEdge Financial Intelligence Assistant: A RAG Proof of Concept</a:t>
            </a:r>
            <a:endParaRPr sz="3600"/>
          </a:p>
        </p:txBody>
      </p:sp>
      <p:sp>
        <p:nvSpPr>
          <p:cNvPr id="106" name="Google Shape;106;p1"/>
          <p:cNvSpPr txBox="1"/>
          <p:nvPr>
            <p:ph type="ctrTitle"/>
          </p:nvPr>
        </p:nvSpPr>
        <p:spPr>
          <a:xfrm>
            <a:off x="1153000" y="2038575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3000"/>
              <a:t>Project 2 (Low-Code Path) | [Your Name] | [Cohort / Course Name]</a:t>
            </a:r>
            <a:endParaRPr b="0" sz="3000"/>
          </a:p>
        </p:txBody>
      </p:sp>
      <p:sp>
        <p:nvSpPr>
          <p:cNvPr id="107" name="Google Shape;107;p1"/>
          <p:cNvSpPr txBox="1"/>
          <p:nvPr>
            <p:ph type="ctrTitle"/>
          </p:nvPr>
        </p:nvSpPr>
        <p:spPr>
          <a:xfrm>
            <a:off x="1153000" y="2429300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1600"/>
              <a:t>[Submission Date]</a:t>
            </a:r>
            <a:endParaRPr b="0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Contents / Agenda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3" name="Google Shape;113;p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Executive Summary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Business Problem Overview and Solution Approach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EDA Results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Data Preprocessing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Performance Summary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Appendix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Executive Summary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9" name="Google Shape;119;p3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GlobalEdge brokers lose signal every morning: too much news, price, and filing data to review before client calls, creating an intelligence and compliance gap.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We built a proof-of-concept Retrieval-Augmented Generation (RAG) assistant that lets brokers ask plain-English questions and get grounded, source-cited answers from news, prices, and SEC filings.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Answer quality was improved automatically with DeepEval GEPA prompt optimization and then tuned across three RAG configurations, measured on a 20-example gold benchmark.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Recommendation: deploy the optimized prompt with the best-performing configuration, keep a broker in the loop for advisory decisions, and use the benchmark as a release gate for future changes.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chemeClr val="dk1"/>
                </a:solidFill>
              </a:rPr>
              <a:t>[ SCREENSHOT PLACEHOLDER: Final baseline-vs-optimized and configuration comparison tables (from notebook Sections 2.4 and 3.5) ]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Business Problem Overview and Solution Approach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5" name="Google Shape;125;p4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Problem: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Brokers must review large volumes of overnight news, price moves, earnings, analyst commentary, and SEC filings in a short pre-market window.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They can only read a fraction, so important disclosures and signals are missed, and answers to clients rely on partial information or memory.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This raises compliance risk and erodes client trust when brokers cannot justify a recommendation with evidence.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Solution approach / methodology: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Ingest three datasets (financial news, global prices, SEC 10-K filings) into LangChain documents with traceable metadata.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Chunk the filings, embed everything with text-embedding-3-small, and index into a local Chroma vector store for semantic retrieval.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Generate grounded answers with a GPT model constrained to the retrieved context, citing sources.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Optimize the answering prompt with DeepEval GEPA and tune retrieval/generation configs, scored by relevance, faithfulness, and completeness metrics.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EDA Results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1" name="Google Shape;131;p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Global news (global_news.csv): article title, description, content, source, URL, publish date, and query across companies, markets, and macro events.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Stock prices (stock_price_details.csv): daily OHLC and volume across global equities, crypto, and forex, keyed by ticker, name, and date.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SEC filings (sec_filings_10k.txt): large ~8 MB plain-text 10-K content (Apple, Alphabet, Tesla, Microsoft and others) with risk, governance, and financial disclosures.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Gold benchmark (golden_benchmark_dataset.csv): 20 curated broker question / expected-answer / context examples used to evaluate every approach.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chemeClr val="dk1"/>
                </a:solidFill>
              </a:rPr>
              <a:t>[ SCREENSHOT PLACEHOLDER: EDA outputs from the notebook: document counts per source, sample news document, filing chunk count, and sample chunk (Section 1.1-1.2) 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chemeClr val="dk1"/>
                </a:solidFill>
              </a:rPr>
              <a:t>Note: You can use more than one slide if needed. See Appendix for data background.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action="ppaction://hlinksldjump" r:id="rId3"/>
              </a:rPr>
              <a:t>Link to Appendix slide on data background check</a:t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Data Preprocessing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8" name="Google Shape;138;p6"/>
          <p:cNvSpPr txBox="1"/>
          <p:nvPr>
            <p:ph idx="1" type="body"/>
          </p:nvPr>
        </p:nvSpPr>
        <p:spPr>
          <a:xfrm>
            <a:off x="202550" y="861975"/>
            <a:ext cx="8629800" cy="3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Duplicate / integrity check: each CSV row and the filings text are loaded once; column headers are detected dynamically so source and metadata fields map correctly.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Missing value handling: a flexible column resolver picks the first available source/metadata column, so missing optional fields do not break loading.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Feature engineering (document construction): each news and price row becomes one LangChain Document; dataset-level metadata (source_file, source_type) is attached for traceability.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Filing chunking: SEC text is split with RecursiveCharacterTextSplitter (chunk_size 1000, chunk_overlap 150) to preserve context continuity for retrieval.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Data preparation for modeling: all documents are embedded (text-embedding-3-small) and indexed into Chroma; the 20 gold examples are shuffled (seed 42) and split 10 train / 10 test.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chemeClr val="dk1"/>
                </a:solidFill>
              </a:rPr>
              <a:t>[ SCREENSHOT PLACEHOLDER: Vector-store build output: indexed document count and 'Vector store is ready' (Section 1.3) ]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Performance Summary and Final Model Selection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4" name="Google Shape;144;p7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Five approaches are compared on the held-out test set: Baseline Prompt, GEPA-Optimized Prompt, and three tuned RAG configurations (Precision-Focused, Balanced, Context-Heavy).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Each is scored on three DeepEval GEval metrics - Relevance, Faithfulness, Completeness - plus an overall mean score.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GEPA prompt optimization is expected to lift the metrics over the manual baseline prompt; configuration tuning then trades grounding precision against breadth of context.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best overall approach is selected automatically as the highest overall-score row in the comparison table (see next slide for the final-model treatment).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chemeClr val="dk1"/>
                </a:solidFill>
              </a:rPr>
              <a:t>[ SCREENSHOT PLACEHOLDER: Baseline-vs-GEPA comparison table (Section 2.4) and five-approach configuration comparison table (Section 3.5) 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chemeClr val="dk1"/>
                </a:solidFill>
              </a:rPr>
              <a:t>Note: You can use more than one slide if needed.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>
            <p:ph type="ctrTitle"/>
          </p:nvPr>
        </p:nvSpPr>
        <p:spPr>
          <a:xfrm>
            <a:off x="0" y="2820425"/>
            <a:ext cx="9144000" cy="5817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300">
                <a:solidFill>
                  <a:schemeClr val="lt1"/>
                </a:solidFill>
              </a:rPr>
              <a:t>APPENDIX</a:t>
            </a:r>
            <a:endParaRPr sz="3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Data Background and Contents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6" name="Google Shape;156;p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global_news.csv - financial news articles. Columns: title, description, content, source, url, published_at, query. Used for sentiment and event signals.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stock_price_details.csv - historical prices across equities, crypto, and forex. Columns: Date, ticker, name, Open, High, Low, Close, Volume. Used for trend and momentum context.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sec_filings_10k.txt - UTF-8 10-K filing text (~8 MB). Chunked for retrieval of risk, governance, and financial-statement disclosures.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golden_benchmark_dataset.csv - 20 benchmark rows. Columns: question, response, source_hint, supporting_sources, context. Mapped to DeepEval Golden input / expected_output / context.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All data is stored locally and retrieved through a Chroma vector store; every answer carries source metadata for verification and compliance.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Building - Baseline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2" name="Google Shape;162;p10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Baseline RAG configuration (models and parameters):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Embedding model: text-embedding-3-small. Answer model: gpt-4o-mini, temperature 0 (deterministic).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Retrieval: Chroma similarity search, k = 4 chunks; filings chunked at size 1000 / overlap 150.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Prompt: grounded financial-assistant system + user prompt that answers only from retrieved context and cites sources.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Evaluation: DeepEval GEval metrics (Relevance, Faithfulness, Completeness; threshold 0.7 each; evaluator gpt-4o-mini) on the 10 held-out test examples.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Scores (to be filled from the notebook run):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Relevance: ____    Faithfulness: ____    Completeness: ____    Overall: ____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chemeClr val="dk1"/>
                </a:solidFill>
              </a:rPr>
              <a:t>[ SCREENSHOT PLACEHOLDER: Baseline RAG evaluation summary table (Section 1.7) and sample grounded answer (Section 1.4) 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chemeClr val="dk1"/>
                </a:solidFill>
              </a:rPr>
              <a:t>Comment: the baseline is grounded and source-cited but is the starting point; prompt and configuration tuning aim to raise faithfulness and completeness. Replace ____ with your run's scores.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Improvement - Hyperparameter Tuning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8" name="Google Shape;168;p13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Two improvement levers are applied on top of the baseline: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1) DeepEval GEPA prompt optimization - genetic-Pareto search mutates and evaluates prompt variants against the training goldens to produce an optimized answering prompt.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2) RAG configuration tuning - three runtime configs vary k, temperature, top_p, and max_tokens (see Appendix for the full parameter table).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Method and parameters tuned: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GEPA: iterations 5, pareto_size 3, minibatch_size 5, random_seed 42, tie-breaker PREFER_CHILD; optimizer temperature 0.7 for exploration, answering temperature 0.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Configs: Precision-Focused (k 3, temp 0.0), Balanced (k 4, temp 0.2), Context-Heavy (k 8, temp 0.4).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Comment on tuned performance (to be filled from the run):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chemeClr val="dk1"/>
                </a:solidFill>
              </a:rPr>
              <a:t>[ SCREENSHOT PLACEHOLDER: Baseline-vs-GEPA table (Section 2.4) and three-config comparison table (Section 3.5); state which approach won and why ]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Appendix: Final RAG Inference Results (5 Broker Questions)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4" name="Google Shape;174;p14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Final inference: the best approach (optimized prompt + best configuration) answers five realistic broker questions, each with a grounded answer and its retrieved source files.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Q1 - Compare Apple / Amazon / Alphabet revenue and net income; fastest YoY grower.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Q2 - Amazon news sentiment this week (bullish or bearish) vs price data.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Q3 - Should I invest in Apple now? leadership, stock trend, financial/risk concerns.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Q4 - Is it too late to buy Bitcoin at ~$78k? recent trend and drivers.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Q5 - Best AI bet among Google / Amazon / Apple? performance, AI commentary, buzz.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chemeClr val="dk1"/>
                </a:solidFill>
              </a:rPr>
              <a:t>[ SCREENSHOT PLACEHOLDER: Final five answers from Section 4.3: for each, the question, grounded answer, approach used, and source files ]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82" name="Google Shape;182;p15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 40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Final Model Selection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01" name="Body 401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Selection rule: the approach with the highest overall DeepEval score across Relevance, Faithfulness, and Completeness on the test set is chosen automatically (Section 3.6).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Final model (to be confirmed from your run): optimized prompt combined with the best configuration; its exact k / temperature / top_p / max_tokens are those of the winning config.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i="1">
                <a:solidFill>
                  <a:schemeClr val="dk1"/>
                </a:solidFill>
              </a:rPr>
              <a:t>Representative best-config parameters (confirm after running): Balanced config - k 4, temperature 0.2, top_p 0.9, max_tokens 700 - unless Precision-Focused or Context-Heavy scores higher.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Most important factors driving quality: retrieval depth (k) mainly affects completeness; temperature and top_p affect faithfulness and wording; the optimized prompt enforces grounding and citations.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Comment on final performance (to be filled): state the winning approach's overall score and the per-metric gains over the baseline.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chemeClr val="dk1"/>
                </a:solidFill>
              </a:rPr>
              <a:t>[ SCREENSHOT PLACEHOLDER: Best-approach selection output (Section 3.6) and the final comparison table (Section 3.5) ]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Title 41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Appendix: Evaluation Metric Definitions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11" name="Body 411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Relevance (GEval): does the answer correctly address the broker's question compared with the expected benchmark answer? Params: actual vs expected output. Threshold 0.7.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Faithfulness (GEval): is every claim grounded in the retrieved context, with no fabricated numbers, filings, prices, or events? Params: actual output vs context. Threshold 0.7.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Completeness (GEval): does the answer cover all parts of the question using the available context, including key figures and caveats? Params: input, actual output, context. Threshold 0.7.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Overall score: the mean of the three metric means per approach; used to rank all five approaches.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Evaluator model: gpt-4o-mini (GPTModel). Scoring is LLM-based and probabilistic, so values vary slightly across runs while rankings stay stable.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Title 42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Appendix: RAG Configuration Parameters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21" name="Body 421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b="1">
                <a:solidFill>
                  <a:schemeClr val="dk1"/>
                </a:solidFill>
              </a:rPr>
              <a:t>Configurations tuned in Section 3 (representative values; confirm against your run):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Config_1_Precision_Focused: k 3, temperature 0.0, top_p 0.8, max_tokens 400 - sharp, strictly grounded factual answers.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Config_2_Balanced: k 4, temperature 0.2, top_p 0.9, max_tokens 700 - grounded and readable default for everyday questions.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Config_3_Context_Heavy: k 8, temperature 0.4, top_p 0.95, max_tokens 1000 - broad, multi-part and cross-market questions.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Shared settings: embedding text-embedding-3-small; answer and evaluator model gpt-4o-mini; filings chunk_size 1000 / overlap 150; Chroma collection 'financial_research'.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GEPA optimizer: iterations 5, pareto_size 3, minibatch_size 5, random_seed 42, tie-breaker PREFER_CHILD; optimizer temperature 0.7.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Title 43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Appendix: Assumptions and Notes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31" name="Body 431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notebook runs in Google Colab with an OpenAI API key; datasets are uploaded alongside the notebook (DATA_DIR = current directory).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gold benchmark has exactly 20 examples, shuffled with seed 42 and split 10 train / 10 test for reproducibility.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Result numbers on the result slides are placeholders by design; paste the actual metric values and tables from your Colab run before submission.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gpt-4o-mini is chosen for both answering and evaluation for cost, latency, and consistency in this proof-of-concept; gpt-4o can be substituted for the evaluator if higher judgment quality is required.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Some DeepEval 4.0.2 optimizer parameters use reasonable defaults; adjust if your installed build exposes different names or defaults.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